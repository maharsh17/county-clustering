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charset="1" panose="00000500000000000000"/>
      <p:regular r:id="rId16"/>
    </p:embeddedFont>
    <p:embeddedFont>
      <p:font typeface="Poppins Bold" charset="1" panose="00000800000000000000"/>
      <p:regular r:id="rId17"/>
    </p:embeddedFont>
    <p:embeddedFont>
      <p:font typeface="Canva Sans" charset="1" panose="020B0503030501040103"/>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15.png" Type="http://schemas.openxmlformats.org/officeDocument/2006/relationships/image"/><Relationship Id="rId19"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14" Target="../media/image31.png" Type="http://schemas.openxmlformats.org/officeDocument/2006/relationships/image"/><Relationship Id="rId15" Target="../media/image32.svg" Type="http://schemas.openxmlformats.org/officeDocument/2006/relationships/image"/><Relationship Id="rId16" Target="../media/image33.png" Type="http://schemas.openxmlformats.org/officeDocument/2006/relationships/image"/><Relationship Id="rId17" Target="../media/image3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39.png" Type="http://schemas.openxmlformats.org/officeDocument/2006/relationships/image"/><Relationship Id="rId19"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8FBFE"/>
        </a:solidFill>
      </p:bgPr>
    </p:bg>
    <p:spTree>
      <p:nvGrpSpPr>
        <p:cNvPr id="1" name=""/>
        <p:cNvGrpSpPr/>
        <p:nvPr/>
      </p:nvGrpSpPr>
      <p:grpSpPr>
        <a:xfrm>
          <a:off x="0" y="0"/>
          <a:ext cx="0" cy="0"/>
          <a:chOff x="0" y="0"/>
          <a:chExt cx="0" cy="0"/>
        </a:xfrm>
      </p:grpSpPr>
      <p:sp>
        <p:nvSpPr>
          <p:cNvPr name="Freeform 2" id="2"/>
          <p:cNvSpPr/>
          <p:nvPr/>
        </p:nvSpPr>
        <p:spPr>
          <a:xfrm flipH="true" flipV="false" rot="486704">
            <a:off x="-672048" y="-472556"/>
            <a:ext cx="4998350" cy="2762725"/>
          </a:xfrm>
          <a:custGeom>
            <a:avLst/>
            <a:gdLst/>
            <a:ahLst/>
            <a:cxnLst/>
            <a:rect r="r" b="b" t="t" l="l"/>
            <a:pathLst>
              <a:path h="2762725" w="4998350">
                <a:moveTo>
                  <a:pt x="4998350" y="0"/>
                </a:moveTo>
                <a:lnTo>
                  <a:pt x="0" y="0"/>
                </a:lnTo>
                <a:lnTo>
                  <a:pt x="0" y="2762724"/>
                </a:lnTo>
                <a:lnTo>
                  <a:pt x="4998350" y="2762724"/>
                </a:lnTo>
                <a:lnTo>
                  <a:pt x="499835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021590" y="8468139"/>
            <a:ext cx="19940536" cy="2809287"/>
          </a:xfrm>
          <a:custGeom>
            <a:avLst/>
            <a:gdLst/>
            <a:ahLst/>
            <a:cxnLst/>
            <a:rect r="r" b="b" t="t" l="l"/>
            <a:pathLst>
              <a:path h="2809287" w="19940536">
                <a:moveTo>
                  <a:pt x="0" y="2809287"/>
                </a:moveTo>
                <a:lnTo>
                  <a:pt x="19940536" y="2809287"/>
                </a:lnTo>
                <a:lnTo>
                  <a:pt x="19940536" y="0"/>
                </a:lnTo>
                <a:lnTo>
                  <a:pt x="0" y="0"/>
                </a:lnTo>
                <a:lnTo>
                  <a:pt x="0" y="2809287"/>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796198" y="3275644"/>
            <a:ext cx="8586307" cy="8586307"/>
          </a:xfrm>
          <a:custGeom>
            <a:avLst/>
            <a:gdLst/>
            <a:ahLst/>
            <a:cxnLst/>
            <a:rect r="r" b="b" t="t" l="l"/>
            <a:pathLst>
              <a:path h="8586307" w="8586307">
                <a:moveTo>
                  <a:pt x="0" y="0"/>
                </a:moveTo>
                <a:lnTo>
                  <a:pt x="8586307" y="0"/>
                </a:lnTo>
                <a:lnTo>
                  <a:pt x="8586307" y="8586307"/>
                </a:lnTo>
                <a:lnTo>
                  <a:pt x="0" y="85863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6215375" y="572072"/>
            <a:ext cx="5407143" cy="5407143"/>
          </a:xfrm>
          <a:custGeom>
            <a:avLst/>
            <a:gdLst/>
            <a:ahLst/>
            <a:cxnLst/>
            <a:rect r="r" b="b" t="t" l="l"/>
            <a:pathLst>
              <a:path h="5407143" w="5407143">
                <a:moveTo>
                  <a:pt x="5407143" y="0"/>
                </a:moveTo>
                <a:lnTo>
                  <a:pt x="0" y="0"/>
                </a:lnTo>
                <a:lnTo>
                  <a:pt x="0" y="5407143"/>
                </a:lnTo>
                <a:lnTo>
                  <a:pt x="5407143" y="5407143"/>
                </a:lnTo>
                <a:lnTo>
                  <a:pt x="5407143"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5741320" y="8908925"/>
            <a:ext cx="2739648" cy="1927716"/>
          </a:xfrm>
          <a:custGeom>
            <a:avLst/>
            <a:gdLst/>
            <a:ahLst/>
            <a:cxnLst/>
            <a:rect r="r" b="b" t="t" l="l"/>
            <a:pathLst>
              <a:path h="1927716" w="2739648">
                <a:moveTo>
                  <a:pt x="2739648" y="0"/>
                </a:moveTo>
                <a:lnTo>
                  <a:pt x="0" y="0"/>
                </a:lnTo>
                <a:lnTo>
                  <a:pt x="0" y="1927715"/>
                </a:lnTo>
                <a:lnTo>
                  <a:pt x="2739648" y="1927715"/>
                </a:lnTo>
                <a:lnTo>
                  <a:pt x="273964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8614481" y="7941566"/>
            <a:ext cx="9505847" cy="1023457"/>
            <a:chOff x="0" y="0"/>
            <a:chExt cx="1469569" cy="158223"/>
          </a:xfrm>
        </p:grpSpPr>
        <p:sp>
          <p:nvSpPr>
            <p:cNvPr name="Freeform 8" id="8"/>
            <p:cNvSpPr/>
            <p:nvPr/>
          </p:nvSpPr>
          <p:spPr>
            <a:xfrm flipH="false" flipV="false" rot="0">
              <a:off x="0" y="0"/>
              <a:ext cx="1469569" cy="158223"/>
            </a:xfrm>
            <a:custGeom>
              <a:avLst/>
              <a:gdLst/>
              <a:ahLst/>
              <a:cxnLst/>
              <a:rect r="r" b="b" t="t" l="l"/>
              <a:pathLst>
                <a:path h="158223" w="1469569">
                  <a:moveTo>
                    <a:pt x="15907" y="0"/>
                  </a:moveTo>
                  <a:lnTo>
                    <a:pt x="1453662" y="0"/>
                  </a:lnTo>
                  <a:cubicBezTo>
                    <a:pt x="1462447" y="0"/>
                    <a:pt x="1469569" y="7122"/>
                    <a:pt x="1469569" y="15907"/>
                  </a:cubicBezTo>
                  <a:lnTo>
                    <a:pt x="1469569" y="142316"/>
                  </a:lnTo>
                  <a:cubicBezTo>
                    <a:pt x="1469569" y="151101"/>
                    <a:pt x="1462447" y="158223"/>
                    <a:pt x="1453662" y="158223"/>
                  </a:cubicBezTo>
                  <a:lnTo>
                    <a:pt x="15907" y="158223"/>
                  </a:lnTo>
                  <a:cubicBezTo>
                    <a:pt x="7122" y="158223"/>
                    <a:pt x="0" y="151101"/>
                    <a:pt x="0" y="142316"/>
                  </a:cubicBezTo>
                  <a:lnTo>
                    <a:pt x="0" y="15907"/>
                  </a:lnTo>
                  <a:cubicBezTo>
                    <a:pt x="0" y="7122"/>
                    <a:pt x="7122" y="0"/>
                    <a:pt x="15907" y="0"/>
                  </a:cubicBezTo>
                  <a:close/>
                </a:path>
              </a:pathLst>
            </a:custGeom>
            <a:solidFill>
              <a:srgbClr val="3CAAD2"/>
            </a:solidFill>
          </p:spPr>
        </p:sp>
        <p:sp>
          <p:nvSpPr>
            <p:cNvPr name="TextBox 9" id="9"/>
            <p:cNvSpPr txBox="true"/>
            <p:nvPr/>
          </p:nvSpPr>
          <p:spPr>
            <a:xfrm>
              <a:off x="0" y="-38100"/>
              <a:ext cx="1469569" cy="196323"/>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true" rot="-5400000">
            <a:off x="8226596" y="-125245"/>
            <a:ext cx="309305" cy="2617194"/>
          </a:xfrm>
          <a:custGeom>
            <a:avLst/>
            <a:gdLst/>
            <a:ahLst/>
            <a:cxnLst/>
            <a:rect r="r" b="b" t="t" l="l"/>
            <a:pathLst>
              <a:path h="2617194" w="309305">
                <a:moveTo>
                  <a:pt x="0" y="2617194"/>
                </a:moveTo>
                <a:lnTo>
                  <a:pt x="309305" y="2617194"/>
                </a:lnTo>
                <a:lnTo>
                  <a:pt x="309305" y="0"/>
                </a:lnTo>
                <a:lnTo>
                  <a:pt x="0" y="0"/>
                </a:lnTo>
                <a:lnTo>
                  <a:pt x="0" y="2617194"/>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9271706" y="6660161"/>
            <a:ext cx="836279" cy="836279"/>
          </a:xfrm>
          <a:custGeom>
            <a:avLst/>
            <a:gdLst/>
            <a:ahLst/>
            <a:cxnLst/>
            <a:rect r="r" b="b" t="t" l="l"/>
            <a:pathLst>
              <a:path h="836279" w="836279">
                <a:moveTo>
                  <a:pt x="0" y="0"/>
                </a:moveTo>
                <a:lnTo>
                  <a:pt x="836279" y="0"/>
                </a:lnTo>
                <a:lnTo>
                  <a:pt x="836279" y="836279"/>
                </a:lnTo>
                <a:lnTo>
                  <a:pt x="0" y="8362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0389055" y="6405718"/>
            <a:ext cx="508885" cy="508885"/>
          </a:xfrm>
          <a:custGeom>
            <a:avLst/>
            <a:gdLst/>
            <a:ahLst/>
            <a:cxnLst/>
            <a:rect r="r" b="b" t="t" l="l"/>
            <a:pathLst>
              <a:path h="508885" w="508885">
                <a:moveTo>
                  <a:pt x="0" y="0"/>
                </a:moveTo>
                <a:lnTo>
                  <a:pt x="508886" y="0"/>
                </a:lnTo>
                <a:lnTo>
                  <a:pt x="508886" y="508886"/>
                </a:lnTo>
                <a:lnTo>
                  <a:pt x="0" y="50888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true" flipV="false" rot="0">
            <a:off x="-843695" y="4014038"/>
            <a:ext cx="9458176" cy="6723903"/>
          </a:xfrm>
          <a:custGeom>
            <a:avLst/>
            <a:gdLst/>
            <a:ahLst/>
            <a:cxnLst/>
            <a:rect r="r" b="b" t="t" l="l"/>
            <a:pathLst>
              <a:path h="6723903" w="9458176">
                <a:moveTo>
                  <a:pt x="9458176" y="0"/>
                </a:moveTo>
                <a:lnTo>
                  <a:pt x="0" y="0"/>
                </a:lnTo>
                <a:lnTo>
                  <a:pt x="0" y="6723903"/>
                </a:lnTo>
                <a:lnTo>
                  <a:pt x="9458176" y="6723903"/>
                </a:lnTo>
                <a:lnTo>
                  <a:pt x="9458176"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4" id="14"/>
          <p:cNvSpPr txBox="true"/>
          <p:nvPr/>
        </p:nvSpPr>
        <p:spPr>
          <a:xfrm rot="0">
            <a:off x="8744276" y="7904672"/>
            <a:ext cx="9000625" cy="1004253"/>
          </a:xfrm>
          <a:prstGeom prst="rect">
            <a:avLst/>
          </a:prstGeom>
        </p:spPr>
        <p:txBody>
          <a:bodyPr anchor="t" rtlCol="false" tIns="0" lIns="0" bIns="0" rIns="0">
            <a:spAutoFit/>
          </a:bodyPr>
          <a:lstStyle/>
          <a:p>
            <a:pPr algn="ctr">
              <a:lnSpc>
                <a:spcPts val="3972"/>
              </a:lnSpc>
            </a:pPr>
            <a:r>
              <a:rPr lang="en-US" sz="2837">
                <a:solidFill>
                  <a:srgbClr val="FFFFFF"/>
                </a:solidFill>
                <a:latin typeface="Poppins"/>
                <a:ea typeface="Poppins"/>
                <a:cs typeface="Poppins"/>
                <a:sym typeface="Poppins"/>
              </a:rPr>
              <a:t>Presen</a:t>
            </a:r>
            <a:r>
              <a:rPr lang="en-US" sz="2837">
                <a:solidFill>
                  <a:srgbClr val="FFFFFF"/>
                </a:solidFill>
                <a:latin typeface="Poppins"/>
                <a:ea typeface="Poppins"/>
                <a:cs typeface="Poppins"/>
                <a:sym typeface="Poppins"/>
              </a:rPr>
              <a:t>tation by: Harshitha Sheshala, Maharsh Jani, Anannya Gairola, Anelda Agyei</a:t>
            </a:r>
          </a:p>
        </p:txBody>
      </p:sp>
      <p:sp>
        <p:nvSpPr>
          <p:cNvPr name="TextBox 15" id="15"/>
          <p:cNvSpPr txBox="true"/>
          <p:nvPr/>
        </p:nvSpPr>
        <p:spPr>
          <a:xfrm rot="0">
            <a:off x="5290674" y="2101848"/>
            <a:ext cx="11968626" cy="2489200"/>
          </a:xfrm>
          <a:prstGeom prst="rect">
            <a:avLst/>
          </a:prstGeom>
        </p:spPr>
        <p:txBody>
          <a:bodyPr anchor="t" rtlCol="false" tIns="0" lIns="0" bIns="0" rIns="0">
            <a:spAutoFit/>
          </a:bodyPr>
          <a:lstStyle/>
          <a:p>
            <a:pPr algn="r">
              <a:lnSpc>
                <a:spcPts val="9799"/>
              </a:lnSpc>
            </a:pPr>
            <a:r>
              <a:rPr lang="en-US" sz="6999" b="true">
                <a:solidFill>
                  <a:srgbClr val="022D80"/>
                </a:solidFill>
                <a:latin typeface="Poppins Bold"/>
                <a:ea typeface="Poppins Bold"/>
                <a:cs typeface="Poppins Bold"/>
                <a:sym typeface="Poppins Bold"/>
              </a:rPr>
              <a:t>County Clustering for Prominent Diseases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8FBFE"/>
        </a:solidFill>
      </p:bgPr>
    </p:bg>
    <p:spTree>
      <p:nvGrpSpPr>
        <p:cNvPr id="1" name=""/>
        <p:cNvGrpSpPr/>
        <p:nvPr/>
      </p:nvGrpSpPr>
      <p:grpSpPr>
        <a:xfrm>
          <a:off x="0" y="0"/>
          <a:ext cx="0" cy="0"/>
          <a:chOff x="0" y="0"/>
          <a:chExt cx="0" cy="0"/>
        </a:xfrm>
      </p:grpSpPr>
      <p:sp>
        <p:nvSpPr>
          <p:cNvPr name="Freeform 2" id="2"/>
          <p:cNvSpPr/>
          <p:nvPr/>
        </p:nvSpPr>
        <p:spPr>
          <a:xfrm flipH="false" flipV="false" rot="0">
            <a:off x="11786673" y="3275644"/>
            <a:ext cx="8586307" cy="8586307"/>
          </a:xfrm>
          <a:custGeom>
            <a:avLst/>
            <a:gdLst/>
            <a:ahLst/>
            <a:cxnLst/>
            <a:rect r="r" b="b" t="t" l="l"/>
            <a:pathLst>
              <a:path h="8586307" w="8586307">
                <a:moveTo>
                  <a:pt x="0" y="0"/>
                </a:moveTo>
                <a:lnTo>
                  <a:pt x="8586307" y="0"/>
                </a:lnTo>
                <a:lnTo>
                  <a:pt x="8586307" y="8586307"/>
                </a:lnTo>
                <a:lnTo>
                  <a:pt x="0" y="8586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6215375" y="572072"/>
            <a:ext cx="5407143" cy="5407143"/>
          </a:xfrm>
          <a:custGeom>
            <a:avLst/>
            <a:gdLst/>
            <a:ahLst/>
            <a:cxnLst/>
            <a:rect r="r" b="b" t="t" l="l"/>
            <a:pathLst>
              <a:path h="5407143" w="5407143">
                <a:moveTo>
                  <a:pt x="5407143" y="0"/>
                </a:moveTo>
                <a:lnTo>
                  <a:pt x="0" y="0"/>
                </a:lnTo>
                <a:lnTo>
                  <a:pt x="0" y="5407143"/>
                </a:lnTo>
                <a:lnTo>
                  <a:pt x="5407143" y="5407143"/>
                </a:lnTo>
                <a:lnTo>
                  <a:pt x="540714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1021590" y="8468139"/>
            <a:ext cx="19940536" cy="2809287"/>
          </a:xfrm>
          <a:custGeom>
            <a:avLst/>
            <a:gdLst/>
            <a:ahLst/>
            <a:cxnLst/>
            <a:rect r="r" b="b" t="t" l="l"/>
            <a:pathLst>
              <a:path h="2809287" w="19940536">
                <a:moveTo>
                  <a:pt x="0" y="2809287"/>
                </a:moveTo>
                <a:lnTo>
                  <a:pt x="19940536" y="2809287"/>
                </a:lnTo>
                <a:lnTo>
                  <a:pt x="19940536" y="0"/>
                </a:lnTo>
                <a:lnTo>
                  <a:pt x="0" y="0"/>
                </a:lnTo>
                <a:lnTo>
                  <a:pt x="0" y="2809287"/>
                </a:lnTo>
                <a:close/>
              </a:path>
            </a:pathLst>
          </a:custGeom>
          <a:blipFill>
            <a:blip r:embed="rId6">
              <a:alphaModFix amt="41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4540" y="582365"/>
            <a:ext cx="533830" cy="533830"/>
          </a:xfrm>
          <a:custGeom>
            <a:avLst/>
            <a:gdLst/>
            <a:ahLst/>
            <a:cxnLst/>
            <a:rect r="r" b="b" t="t" l="l"/>
            <a:pathLst>
              <a:path h="533830" w="533830">
                <a:moveTo>
                  <a:pt x="0" y="0"/>
                </a:moveTo>
                <a:lnTo>
                  <a:pt x="533830" y="0"/>
                </a:lnTo>
                <a:lnTo>
                  <a:pt x="533830" y="533830"/>
                </a:lnTo>
                <a:lnTo>
                  <a:pt x="0" y="5338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7097788" y="419945"/>
            <a:ext cx="324842" cy="324842"/>
          </a:xfrm>
          <a:custGeom>
            <a:avLst/>
            <a:gdLst/>
            <a:ahLst/>
            <a:cxnLst/>
            <a:rect r="r" b="b" t="t" l="l"/>
            <a:pathLst>
              <a:path h="324842" w="324842">
                <a:moveTo>
                  <a:pt x="0" y="0"/>
                </a:moveTo>
                <a:lnTo>
                  <a:pt x="324842" y="0"/>
                </a:lnTo>
                <a:lnTo>
                  <a:pt x="324842" y="324841"/>
                </a:lnTo>
                <a:lnTo>
                  <a:pt x="0" y="3248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486704">
            <a:off x="-672048" y="-472556"/>
            <a:ext cx="4998350" cy="2762725"/>
          </a:xfrm>
          <a:custGeom>
            <a:avLst/>
            <a:gdLst/>
            <a:ahLst/>
            <a:cxnLst/>
            <a:rect r="r" b="b" t="t" l="l"/>
            <a:pathLst>
              <a:path h="2762725" w="4998350">
                <a:moveTo>
                  <a:pt x="4998350" y="0"/>
                </a:moveTo>
                <a:lnTo>
                  <a:pt x="0" y="0"/>
                </a:lnTo>
                <a:lnTo>
                  <a:pt x="0" y="2762724"/>
                </a:lnTo>
                <a:lnTo>
                  <a:pt x="4998350" y="2762724"/>
                </a:lnTo>
                <a:lnTo>
                  <a:pt x="499835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4760304" y="782390"/>
            <a:ext cx="8767392" cy="1067722"/>
          </a:xfrm>
          <a:prstGeom prst="rect">
            <a:avLst/>
          </a:prstGeom>
        </p:spPr>
        <p:txBody>
          <a:bodyPr anchor="t" rtlCol="false" tIns="0" lIns="0" bIns="0" rIns="0">
            <a:spAutoFit/>
          </a:bodyPr>
          <a:lstStyle/>
          <a:p>
            <a:pPr algn="r">
              <a:lnSpc>
                <a:spcPts val="7016"/>
              </a:lnSpc>
            </a:pPr>
            <a:r>
              <a:rPr lang="en-US" sz="8353" b="true">
                <a:solidFill>
                  <a:srgbClr val="022D80"/>
                </a:solidFill>
                <a:latin typeface="Poppins Bold"/>
                <a:ea typeface="Poppins Bold"/>
                <a:cs typeface="Poppins Bold"/>
                <a:sym typeface="Poppins Bold"/>
              </a:rPr>
              <a:t>Topic of Interest</a:t>
            </a:r>
          </a:p>
        </p:txBody>
      </p:sp>
      <p:sp>
        <p:nvSpPr>
          <p:cNvPr name="TextBox 9" id="9"/>
          <p:cNvSpPr txBox="true"/>
          <p:nvPr/>
        </p:nvSpPr>
        <p:spPr>
          <a:xfrm rot="0">
            <a:off x="69324" y="3673005"/>
            <a:ext cx="17758708" cy="3321939"/>
          </a:xfrm>
          <a:prstGeom prst="rect">
            <a:avLst/>
          </a:prstGeom>
        </p:spPr>
        <p:txBody>
          <a:bodyPr anchor="t" rtlCol="false" tIns="0" lIns="0" bIns="0" rIns="0">
            <a:spAutoFit/>
          </a:bodyPr>
          <a:lstStyle/>
          <a:p>
            <a:pPr algn="ctr">
              <a:lnSpc>
                <a:spcPts val="5208"/>
              </a:lnSpc>
            </a:pPr>
            <a:r>
              <a:rPr lang="en-US" sz="4200">
                <a:solidFill>
                  <a:srgbClr val="000000"/>
                </a:solidFill>
                <a:latin typeface="Poppins"/>
                <a:ea typeface="Poppins"/>
                <a:cs typeface="Poppins"/>
                <a:sym typeface="Poppins"/>
              </a:rPr>
              <a:t>Analyzing "healthiest-to-worst" county rankings through data-driven clustering approach that identifies unique profiles of community health needs, such as high-burden/low-access areas versus those with specific, localized challenges.</a:t>
            </a:r>
          </a:p>
          <a:p>
            <a:pPr algn="ctr">
              <a:lnSpc>
                <a:spcPts val="5208"/>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8FBFE"/>
        </a:solidFill>
      </p:bgPr>
    </p:bg>
    <p:spTree>
      <p:nvGrpSpPr>
        <p:cNvPr id="1" name=""/>
        <p:cNvGrpSpPr/>
        <p:nvPr/>
      </p:nvGrpSpPr>
      <p:grpSpPr>
        <a:xfrm>
          <a:off x="0" y="0"/>
          <a:ext cx="0" cy="0"/>
          <a:chOff x="0" y="0"/>
          <a:chExt cx="0" cy="0"/>
        </a:xfrm>
      </p:grpSpPr>
      <p:grpSp>
        <p:nvGrpSpPr>
          <p:cNvPr name="Group 2" id="2"/>
          <p:cNvGrpSpPr/>
          <p:nvPr/>
        </p:nvGrpSpPr>
        <p:grpSpPr>
          <a:xfrm rot="0">
            <a:off x="1183781" y="6460824"/>
            <a:ext cx="545058" cy="54505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2D8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83781" y="8060648"/>
            <a:ext cx="545058" cy="54505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2D8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137950" y="6460824"/>
            <a:ext cx="545058" cy="54505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2D8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137950" y="8060648"/>
            <a:ext cx="545058" cy="54505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2D80"/>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183781" y="2365646"/>
            <a:ext cx="10501436" cy="2000970"/>
          </a:xfrm>
          <a:prstGeom prst="rect">
            <a:avLst/>
          </a:prstGeom>
        </p:spPr>
        <p:txBody>
          <a:bodyPr anchor="t" rtlCol="false" tIns="0" lIns="0" bIns="0" rIns="0">
            <a:spAutoFit/>
          </a:bodyPr>
          <a:lstStyle/>
          <a:p>
            <a:pPr algn="l">
              <a:lnSpc>
                <a:spcPts val="7267"/>
              </a:lnSpc>
            </a:pPr>
            <a:r>
              <a:rPr lang="en-US" sz="8353" b="true">
                <a:solidFill>
                  <a:srgbClr val="022D80"/>
                </a:solidFill>
                <a:latin typeface="Poppins Bold"/>
                <a:ea typeface="Poppins Bold"/>
                <a:cs typeface="Poppins Bold"/>
                <a:sym typeface="Poppins Bold"/>
              </a:rPr>
              <a:t>Why is this important?</a:t>
            </a:r>
          </a:p>
        </p:txBody>
      </p:sp>
      <p:sp>
        <p:nvSpPr>
          <p:cNvPr name="TextBox 15" id="15"/>
          <p:cNvSpPr txBox="true"/>
          <p:nvPr/>
        </p:nvSpPr>
        <p:spPr>
          <a:xfrm rot="0">
            <a:off x="1907493" y="8013023"/>
            <a:ext cx="3832841" cy="657252"/>
          </a:xfrm>
          <a:prstGeom prst="rect">
            <a:avLst/>
          </a:prstGeom>
        </p:spPr>
        <p:txBody>
          <a:bodyPr anchor="t" rtlCol="false" tIns="0" lIns="0" bIns="0" rIns="0">
            <a:spAutoFit/>
          </a:bodyPr>
          <a:lstStyle/>
          <a:p>
            <a:pPr algn="l">
              <a:lnSpc>
                <a:spcPts val="2605"/>
              </a:lnSpc>
            </a:pPr>
            <a:r>
              <a:rPr lang="en-US" sz="1860">
                <a:solidFill>
                  <a:srgbClr val="000000"/>
                </a:solidFill>
                <a:latin typeface="Canva Sans"/>
                <a:ea typeface="Canva Sans"/>
                <a:cs typeface="Canva Sans"/>
                <a:sym typeface="Canva Sans"/>
              </a:rPr>
              <a:t>Chronic diseases predominantly in southeast regions (CDC)</a:t>
            </a:r>
          </a:p>
        </p:txBody>
      </p:sp>
      <p:sp>
        <p:nvSpPr>
          <p:cNvPr name="TextBox 16" id="16"/>
          <p:cNvSpPr txBox="true"/>
          <p:nvPr/>
        </p:nvSpPr>
        <p:spPr>
          <a:xfrm rot="0">
            <a:off x="1285027" y="8045833"/>
            <a:ext cx="342566" cy="517538"/>
          </a:xfrm>
          <a:prstGeom prst="rect">
            <a:avLst/>
          </a:prstGeom>
        </p:spPr>
        <p:txBody>
          <a:bodyPr anchor="t" rtlCol="false" tIns="0" lIns="0" bIns="0" rIns="0">
            <a:spAutoFit/>
          </a:bodyPr>
          <a:lstStyle/>
          <a:p>
            <a:pPr algn="ctr">
              <a:lnSpc>
                <a:spcPts val="4232"/>
              </a:lnSpc>
            </a:pPr>
            <a:r>
              <a:rPr lang="en-US" sz="3023" b="true">
                <a:solidFill>
                  <a:srgbClr val="FFFFFF"/>
                </a:solidFill>
                <a:latin typeface="Canva Sans Bold"/>
                <a:ea typeface="Canva Sans Bold"/>
                <a:cs typeface="Canva Sans Bold"/>
                <a:sym typeface="Canva Sans Bold"/>
              </a:rPr>
              <a:t>2</a:t>
            </a:r>
          </a:p>
        </p:txBody>
      </p:sp>
      <p:sp>
        <p:nvSpPr>
          <p:cNvPr name="TextBox 17" id="17"/>
          <p:cNvSpPr txBox="true"/>
          <p:nvPr/>
        </p:nvSpPr>
        <p:spPr>
          <a:xfrm rot="0">
            <a:off x="6861663" y="8144962"/>
            <a:ext cx="3832841" cy="328804"/>
          </a:xfrm>
          <a:prstGeom prst="rect">
            <a:avLst/>
          </a:prstGeom>
        </p:spPr>
        <p:txBody>
          <a:bodyPr anchor="t" rtlCol="false" tIns="0" lIns="0" bIns="0" rIns="0">
            <a:spAutoFit/>
          </a:bodyPr>
          <a:lstStyle/>
          <a:p>
            <a:pPr algn="l">
              <a:lnSpc>
                <a:spcPts val="2605"/>
              </a:lnSpc>
            </a:pPr>
            <a:r>
              <a:rPr lang="en-US" sz="1860">
                <a:solidFill>
                  <a:srgbClr val="000000"/>
                </a:solidFill>
                <a:latin typeface="Canva Sans"/>
                <a:ea typeface="Canva Sans"/>
                <a:cs typeface="Canva Sans"/>
                <a:sym typeface="Canva Sans"/>
              </a:rPr>
              <a:t>Enables prevention</a:t>
            </a:r>
          </a:p>
        </p:txBody>
      </p:sp>
      <p:sp>
        <p:nvSpPr>
          <p:cNvPr name="TextBox 18" id="18"/>
          <p:cNvSpPr txBox="true"/>
          <p:nvPr/>
        </p:nvSpPr>
        <p:spPr>
          <a:xfrm rot="0">
            <a:off x="6239196" y="8045833"/>
            <a:ext cx="342566" cy="517538"/>
          </a:xfrm>
          <a:prstGeom prst="rect">
            <a:avLst/>
          </a:prstGeom>
        </p:spPr>
        <p:txBody>
          <a:bodyPr anchor="t" rtlCol="false" tIns="0" lIns="0" bIns="0" rIns="0">
            <a:spAutoFit/>
          </a:bodyPr>
          <a:lstStyle/>
          <a:p>
            <a:pPr algn="ctr">
              <a:lnSpc>
                <a:spcPts val="4232"/>
              </a:lnSpc>
            </a:pPr>
            <a:r>
              <a:rPr lang="en-US" sz="3023" b="true">
                <a:solidFill>
                  <a:srgbClr val="FFFFFF"/>
                </a:solidFill>
                <a:latin typeface="Canva Sans Bold"/>
                <a:ea typeface="Canva Sans Bold"/>
                <a:cs typeface="Canva Sans Bold"/>
                <a:sym typeface="Canva Sans Bold"/>
              </a:rPr>
              <a:t>4</a:t>
            </a:r>
          </a:p>
        </p:txBody>
      </p:sp>
      <p:sp>
        <p:nvSpPr>
          <p:cNvPr name="Freeform 19" id="19"/>
          <p:cNvSpPr/>
          <p:nvPr/>
        </p:nvSpPr>
        <p:spPr>
          <a:xfrm flipH="true" flipV="false" rot="486704">
            <a:off x="-672048" y="-472556"/>
            <a:ext cx="4998350" cy="2762725"/>
          </a:xfrm>
          <a:custGeom>
            <a:avLst/>
            <a:gdLst/>
            <a:ahLst/>
            <a:cxnLst/>
            <a:rect r="r" b="b" t="t" l="l"/>
            <a:pathLst>
              <a:path h="2762725" w="4998350">
                <a:moveTo>
                  <a:pt x="4998350" y="0"/>
                </a:moveTo>
                <a:lnTo>
                  <a:pt x="0" y="0"/>
                </a:lnTo>
                <a:lnTo>
                  <a:pt x="0" y="2762724"/>
                </a:lnTo>
                <a:lnTo>
                  <a:pt x="4998350" y="2762724"/>
                </a:lnTo>
                <a:lnTo>
                  <a:pt x="499835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true" rot="0">
            <a:off x="-1021590" y="8536972"/>
            <a:ext cx="19940536" cy="2809287"/>
          </a:xfrm>
          <a:custGeom>
            <a:avLst/>
            <a:gdLst/>
            <a:ahLst/>
            <a:cxnLst/>
            <a:rect r="r" b="b" t="t" l="l"/>
            <a:pathLst>
              <a:path h="2809287" w="19940536">
                <a:moveTo>
                  <a:pt x="0" y="2809287"/>
                </a:moveTo>
                <a:lnTo>
                  <a:pt x="19940536" y="2809287"/>
                </a:lnTo>
                <a:lnTo>
                  <a:pt x="19940536" y="0"/>
                </a:lnTo>
                <a:lnTo>
                  <a:pt x="0" y="0"/>
                </a:lnTo>
                <a:lnTo>
                  <a:pt x="0" y="2809287"/>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1786673" y="3275644"/>
            <a:ext cx="8586307" cy="8586307"/>
          </a:xfrm>
          <a:custGeom>
            <a:avLst/>
            <a:gdLst/>
            <a:ahLst/>
            <a:cxnLst/>
            <a:rect r="r" b="b" t="t" l="l"/>
            <a:pathLst>
              <a:path h="8586307" w="8586307">
                <a:moveTo>
                  <a:pt x="0" y="0"/>
                </a:moveTo>
                <a:lnTo>
                  <a:pt x="8586307" y="0"/>
                </a:lnTo>
                <a:lnTo>
                  <a:pt x="8586307" y="8586307"/>
                </a:lnTo>
                <a:lnTo>
                  <a:pt x="0" y="85863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true" flipV="false" rot="0">
            <a:off x="16215375" y="572072"/>
            <a:ext cx="5407143" cy="5407143"/>
          </a:xfrm>
          <a:custGeom>
            <a:avLst/>
            <a:gdLst/>
            <a:ahLst/>
            <a:cxnLst/>
            <a:rect r="r" b="b" t="t" l="l"/>
            <a:pathLst>
              <a:path h="5407143" w="5407143">
                <a:moveTo>
                  <a:pt x="5407143" y="0"/>
                </a:moveTo>
                <a:lnTo>
                  <a:pt x="0" y="0"/>
                </a:lnTo>
                <a:lnTo>
                  <a:pt x="0" y="5407143"/>
                </a:lnTo>
                <a:lnTo>
                  <a:pt x="5407143" y="5407143"/>
                </a:lnTo>
                <a:lnTo>
                  <a:pt x="5407143"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11094553" y="3595910"/>
            <a:ext cx="7543800" cy="7200900"/>
          </a:xfrm>
          <a:custGeom>
            <a:avLst/>
            <a:gdLst/>
            <a:ahLst/>
            <a:cxnLst/>
            <a:rect r="r" b="b" t="t" l="l"/>
            <a:pathLst>
              <a:path h="7200900" w="7543800">
                <a:moveTo>
                  <a:pt x="0" y="0"/>
                </a:moveTo>
                <a:lnTo>
                  <a:pt x="7543800" y="0"/>
                </a:lnTo>
                <a:lnTo>
                  <a:pt x="7543800" y="7200900"/>
                </a:lnTo>
                <a:lnTo>
                  <a:pt x="0" y="72009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4" id="24"/>
          <p:cNvSpPr txBox="true"/>
          <p:nvPr/>
        </p:nvSpPr>
        <p:spPr>
          <a:xfrm rot="0">
            <a:off x="1907493" y="6413199"/>
            <a:ext cx="3832841" cy="1314148"/>
          </a:xfrm>
          <a:prstGeom prst="rect">
            <a:avLst/>
          </a:prstGeom>
        </p:spPr>
        <p:txBody>
          <a:bodyPr anchor="t" rtlCol="false" tIns="0" lIns="0" bIns="0" rIns="0">
            <a:spAutoFit/>
          </a:bodyPr>
          <a:lstStyle/>
          <a:p>
            <a:pPr algn="l">
              <a:lnSpc>
                <a:spcPts val="2605"/>
              </a:lnSpc>
            </a:pPr>
            <a:r>
              <a:rPr lang="en-US" sz="1860">
                <a:solidFill>
                  <a:srgbClr val="000000"/>
                </a:solidFill>
                <a:latin typeface="Canva Sans"/>
                <a:ea typeface="Canva Sans"/>
                <a:cs typeface="Canva Sans"/>
                <a:sym typeface="Canva Sans"/>
              </a:rPr>
              <a:t>rural areas have ⅔ of primary care physicians needed with 92% rural areas considered area with physician shortage (Stateline)</a:t>
            </a:r>
          </a:p>
        </p:txBody>
      </p:sp>
      <p:sp>
        <p:nvSpPr>
          <p:cNvPr name="TextBox 25" id="25"/>
          <p:cNvSpPr txBox="true"/>
          <p:nvPr/>
        </p:nvSpPr>
        <p:spPr>
          <a:xfrm rot="0">
            <a:off x="1285027" y="6446009"/>
            <a:ext cx="342566" cy="517538"/>
          </a:xfrm>
          <a:prstGeom prst="rect">
            <a:avLst/>
          </a:prstGeom>
        </p:spPr>
        <p:txBody>
          <a:bodyPr anchor="t" rtlCol="false" tIns="0" lIns="0" bIns="0" rIns="0">
            <a:spAutoFit/>
          </a:bodyPr>
          <a:lstStyle/>
          <a:p>
            <a:pPr algn="ctr">
              <a:lnSpc>
                <a:spcPts val="4232"/>
              </a:lnSpc>
            </a:pPr>
            <a:r>
              <a:rPr lang="en-US" b="true" sz="3023">
                <a:solidFill>
                  <a:srgbClr val="FFFFFF"/>
                </a:solidFill>
                <a:latin typeface="Canva Sans Bold"/>
                <a:ea typeface="Canva Sans Bold"/>
                <a:cs typeface="Canva Sans Bold"/>
                <a:sym typeface="Canva Sans Bold"/>
              </a:rPr>
              <a:t>1</a:t>
            </a:r>
          </a:p>
        </p:txBody>
      </p:sp>
      <p:sp>
        <p:nvSpPr>
          <p:cNvPr name="TextBox 26" id="26"/>
          <p:cNvSpPr txBox="true"/>
          <p:nvPr/>
        </p:nvSpPr>
        <p:spPr>
          <a:xfrm rot="0">
            <a:off x="6861663" y="6413199"/>
            <a:ext cx="3832841" cy="657252"/>
          </a:xfrm>
          <a:prstGeom prst="rect">
            <a:avLst/>
          </a:prstGeom>
        </p:spPr>
        <p:txBody>
          <a:bodyPr anchor="t" rtlCol="false" tIns="0" lIns="0" bIns="0" rIns="0">
            <a:spAutoFit/>
          </a:bodyPr>
          <a:lstStyle/>
          <a:p>
            <a:pPr algn="l">
              <a:lnSpc>
                <a:spcPts val="2605"/>
              </a:lnSpc>
            </a:pPr>
            <a:r>
              <a:rPr lang="en-US" sz="1860">
                <a:solidFill>
                  <a:srgbClr val="000000"/>
                </a:solidFill>
                <a:latin typeface="Canva Sans"/>
                <a:ea typeface="Canva Sans"/>
                <a:cs typeface="Canva Sans"/>
                <a:sym typeface="Canva Sans"/>
              </a:rPr>
              <a:t>Understanding patterns → Improved public health policies</a:t>
            </a:r>
          </a:p>
        </p:txBody>
      </p:sp>
      <p:sp>
        <p:nvSpPr>
          <p:cNvPr name="TextBox 27" id="27"/>
          <p:cNvSpPr txBox="true"/>
          <p:nvPr/>
        </p:nvSpPr>
        <p:spPr>
          <a:xfrm rot="0">
            <a:off x="6239196" y="6446009"/>
            <a:ext cx="342566" cy="517538"/>
          </a:xfrm>
          <a:prstGeom prst="rect">
            <a:avLst/>
          </a:prstGeom>
        </p:spPr>
        <p:txBody>
          <a:bodyPr anchor="t" rtlCol="false" tIns="0" lIns="0" bIns="0" rIns="0">
            <a:spAutoFit/>
          </a:bodyPr>
          <a:lstStyle/>
          <a:p>
            <a:pPr algn="ctr">
              <a:lnSpc>
                <a:spcPts val="4232"/>
              </a:lnSpc>
            </a:pPr>
            <a:r>
              <a:rPr lang="en-US" sz="3023" b="true">
                <a:solidFill>
                  <a:srgbClr val="FFFFFF"/>
                </a:solidFill>
                <a:latin typeface="Canva Sans Bold"/>
                <a:ea typeface="Canva Sans Bold"/>
                <a:cs typeface="Canva Sans Bold"/>
                <a:sym typeface="Canva Sans Bold"/>
              </a:rPr>
              <a:t>3</a:t>
            </a:r>
          </a:p>
        </p:txBody>
      </p:sp>
      <p:sp>
        <p:nvSpPr>
          <p:cNvPr name="Freeform 28" id="28"/>
          <p:cNvSpPr/>
          <p:nvPr/>
        </p:nvSpPr>
        <p:spPr>
          <a:xfrm flipH="true" flipV="false" rot="0">
            <a:off x="15667280" y="407604"/>
            <a:ext cx="2739648" cy="1927716"/>
          </a:xfrm>
          <a:custGeom>
            <a:avLst/>
            <a:gdLst/>
            <a:ahLst/>
            <a:cxnLst/>
            <a:rect r="r" b="b" t="t" l="l"/>
            <a:pathLst>
              <a:path h="1927716" w="2739648">
                <a:moveTo>
                  <a:pt x="2739648" y="0"/>
                </a:moveTo>
                <a:lnTo>
                  <a:pt x="0" y="0"/>
                </a:lnTo>
                <a:lnTo>
                  <a:pt x="0" y="1927716"/>
                </a:lnTo>
                <a:lnTo>
                  <a:pt x="2739648" y="1927716"/>
                </a:lnTo>
                <a:lnTo>
                  <a:pt x="273964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9" id="29"/>
          <p:cNvSpPr/>
          <p:nvPr/>
        </p:nvSpPr>
        <p:spPr>
          <a:xfrm flipH="false" flipV="false" rot="-5400000">
            <a:off x="3669261" y="-91787"/>
            <a:ext cx="309305" cy="2617194"/>
          </a:xfrm>
          <a:custGeom>
            <a:avLst/>
            <a:gdLst/>
            <a:ahLst/>
            <a:cxnLst/>
            <a:rect r="r" b="b" t="t" l="l"/>
            <a:pathLst>
              <a:path h="2617194" w="309305">
                <a:moveTo>
                  <a:pt x="0" y="0"/>
                </a:moveTo>
                <a:lnTo>
                  <a:pt x="309305" y="0"/>
                </a:lnTo>
                <a:lnTo>
                  <a:pt x="309305" y="2617194"/>
                </a:lnTo>
                <a:lnTo>
                  <a:pt x="0" y="261719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0" id="30"/>
          <p:cNvSpPr/>
          <p:nvPr/>
        </p:nvSpPr>
        <p:spPr>
          <a:xfrm flipH="false" flipV="false" rot="0">
            <a:off x="9781910" y="1884722"/>
            <a:ext cx="1711188" cy="1711188"/>
          </a:xfrm>
          <a:custGeom>
            <a:avLst/>
            <a:gdLst/>
            <a:ahLst/>
            <a:cxnLst/>
            <a:rect r="r" b="b" t="t" l="l"/>
            <a:pathLst>
              <a:path h="1711188" w="1711188">
                <a:moveTo>
                  <a:pt x="0" y="0"/>
                </a:moveTo>
                <a:lnTo>
                  <a:pt x="1711189" y="0"/>
                </a:lnTo>
                <a:lnTo>
                  <a:pt x="1711189" y="1711188"/>
                </a:lnTo>
                <a:lnTo>
                  <a:pt x="0" y="171118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1" id="31"/>
          <p:cNvSpPr/>
          <p:nvPr/>
        </p:nvSpPr>
        <p:spPr>
          <a:xfrm flipH="false" flipV="false" rot="0">
            <a:off x="12068223" y="1364083"/>
            <a:ext cx="1041278" cy="1041278"/>
          </a:xfrm>
          <a:custGeom>
            <a:avLst/>
            <a:gdLst/>
            <a:ahLst/>
            <a:cxnLst/>
            <a:rect r="r" b="b" t="t" l="l"/>
            <a:pathLst>
              <a:path h="1041278" w="1041278">
                <a:moveTo>
                  <a:pt x="0" y="0"/>
                </a:moveTo>
                <a:lnTo>
                  <a:pt x="1041278" y="0"/>
                </a:lnTo>
                <a:lnTo>
                  <a:pt x="1041278" y="1041277"/>
                </a:lnTo>
                <a:lnTo>
                  <a:pt x="0" y="104127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8FBFE"/>
        </a:solidFill>
      </p:bgPr>
    </p:bg>
    <p:spTree>
      <p:nvGrpSpPr>
        <p:cNvPr id="1" name=""/>
        <p:cNvGrpSpPr/>
        <p:nvPr/>
      </p:nvGrpSpPr>
      <p:grpSpPr>
        <a:xfrm>
          <a:off x="0" y="0"/>
          <a:ext cx="0" cy="0"/>
          <a:chOff x="0" y="0"/>
          <a:chExt cx="0" cy="0"/>
        </a:xfrm>
      </p:grpSpPr>
      <p:sp>
        <p:nvSpPr>
          <p:cNvPr name="Freeform 2" id="2"/>
          <p:cNvSpPr/>
          <p:nvPr/>
        </p:nvSpPr>
        <p:spPr>
          <a:xfrm flipH="true" flipV="false" rot="486704">
            <a:off x="-672048" y="-472556"/>
            <a:ext cx="4998350" cy="2762725"/>
          </a:xfrm>
          <a:custGeom>
            <a:avLst/>
            <a:gdLst/>
            <a:ahLst/>
            <a:cxnLst/>
            <a:rect r="r" b="b" t="t" l="l"/>
            <a:pathLst>
              <a:path h="2762725" w="4998350">
                <a:moveTo>
                  <a:pt x="4998350" y="0"/>
                </a:moveTo>
                <a:lnTo>
                  <a:pt x="0" y="0"/>
                </a:lnTo>
                <a:lnTo>
                  <a:pt x="0" y="2762724"/>
                </a:lnTo>
                <a:lnTo>
                  <a:pt x="4998350" y="2762724"/>
                </a:lnTo>
                <a:lnTo>
                  <a:pt x="499835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021590" y="8468139"/>
            <a:ext cx="19940536" cy="2809287"/>
          </a:xfrm>
          <a:custGeom>
            <a:avLst/>
            <a:gdLst/>
            <a:ahLst/>
            <a:cxnLst/>
            <a:rect r="r" b="b" t="t" l="l"/>
            <a:pathLst>
              <a:path h="2809287" w="19940536">
                <a:moveTo>
                  <a:pt x="0" y="2809287"/>
                </a:moveTo>
                <a:lnTo>
                  <a:pt x="19940536" y="2809287"/>
                </a:lnTo>
                <a:lnTo>
                  <a:pt x="19940536" y="0"/>
                </a:lnTo>
                <a:lnTo>
                  <a:pt x="0" y="0"/>
                </a:lnTo>
                <a:lnTo>
                  <a:pt x="0" y="2809287"/>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786673" y="3275644"/>
            <a:ext cx="8586307" cy="8586307"/>
          </a:xfrm>
          <a:custGeom>
            <a:avLst/>
            <a:gdLst/>
            <a:ahLst/>
            <a:cxnLst/>
            <a:rect r="r" b="b" t="t" l="l"/>
            <a:pathLst>
              <a:path h="8586307" w="8586307">
                <a:moveTo>
                  <a:pt x="0" y="0"/>
                </a:moveTo>
                <a:lnTo>
                  <a:pt x="8586307" y="0"/>
                </a:lnTo>
                <a:lnTo>
                  <a:pt x="8586307" y="8586307"/>
                </a:lnTo>
                <a:lnTo>
                  <a:pt x="0" y="85863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6215375" y="572072"/>
            <a:ext cx="5407143" cy="5407143"/>
          </a:xfrm>
          <a:custGeom>
            <a:avLst/>
            <a:gdLst/>
            <a:ahLst/>
            <a:cxnLst/>
            <a:rect r="r" b="b" t="t" l="l"/>
            <a:pathLst>
              <a:path h="5407143" w="5407143">
                <a:moveTo>
                  <a:pt x="5407143" y="0"/>
                </a:moveTo>
                <a:lnTo>
                  <a:pt x="0" y="0"/>
                </a:lnTo>
                <a:lnTo>
                  <a:pt x="0" y="5407143"/>
                </a:lnTo>
                <a:lnTo>
                  <a:pt x="5407143" y="5407143"/>
                </a:lnTo>
                <a:lnTo>
                  <a:pt x="5407143"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539973" y="5163967"/>
            <a:ext cx="7859154" cy="2036826"/>
            <a:chOff x="0" y="0"/>
            <a:chExt cx="1617110" cy="419100"/>
          </a:xfrm>
        </p:grpSpPr>
        <p:sp>
          <p:nvSpPr>
            <p:cNvPr name="Freeform 7" id="7"/>
            <p:cNvSpPr/>
            <p:nvPr/>
          </p:nvSpPr>
          <p:spPr>
            <a:xfrm flipH="false" flipV="false" rot="0">
              <a:off x="0" y="0"/>
              <a:ext cx="1617110" cy="419100"/>
            </a:xfrm>
            <a:custGeom>
              <a:avLst/>
              <a:gdLst/>
              <a:ahLst/>
              <a:cxnLst/>
              <a:rect r="r" b="b" t="t" l="l"/>
              <a:pathLst>
                <a:path h="419100" w="1617110">
                  <a:moveTo>
                    <a:pt x="19240" y="0"/>
                  </a:moveTo>
                  <a:lnTo>
                    <a:pt x="1597870" y="0"/>
                  </a:lnTo>
                  <a:cubicBezTo>
                    <a:pt x="1608496" y="0"/>
                    <a:pt x="1617110" y="8614"/>
                    <a:pt x="1617110" y="19240"/>
                  </a:cubicBezTo>
                  <a:lnTo>
                    <a:pt x="1617110" y="399860"/>
                  </a:lnTo>
                  <a:cubicBezTo>
                    <a:pt x="1617110" y="410486"/>
                    <a:pt x="1608496" y="419100"/>
                    <a:pt x="1597870" y="419100"/>
                  </a:cubicBezTo>
                  <a:lnTo>
                    <a:pt x="19240" y="419100"/>
                  </a:lnTo>
                  <a:cubicBezTo>
                    <a:pt x="8614" y="419100"/>
                    <a:pt x="0" y="410486"/>
                    <a:pt x="0" y="399860"/>
                  </a:cubicBezTo>
                  <a:lnTo>
                    <a:pt x="0" y="19240"/>
                  </a:lnTo>
                  <a:cubicBezTo>
                    <a:pt x="0" y="8614"/>
                    <a:pt x="8614" y="0"/>
                    <a:pt x="19240" y="0"/>
                  </a:cubicBezTo>
                  <a:close/>
                </a:path>
              </a:pathLst>
            </a:custGeom>
            <a:solidFill>
              <a:srgbClr val="2C73B6"/>
            </a:solidFill>
          </p:spPr>
        </p:sp>
        <p:sp>
          <p:nvSpPr>
            <p:cNvPr name="TextBox 8" id="8"/>
            <p:cNvSpPr txBox="true"/>
            <p:nvPr/>
          </p:nvSpPr>
          <p:spPr>
            <a:xfrm>
              <a:off x="0" y="-38100"/>
              <a:ext cx="1617110" cy="4572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539973" y="7477018"/>
            <a:ext cx="7859154" cy="2036826"/>
            <a:chOff x="0" y="0"/>
            <a:chExt cx="1617110" cy="419100"/>
          </a:xfrm>
        </p:grpSpPr>
        <p:sp>
          <p:nvSpPr>
            <p:cNvPr name="Freeform 10" id="10"/>
            <p:cNvSpPr/>
            <p:nvPr/>
          </p:nvSpPr>
          <p:spPr>
            <a:xfrm flipH="false" flipV="false" rot="0">
              <a:off x="0" y="0"/>
              <a:ext cx="1617110" cy="419100"/>
            </a:xfrm>
            <a:custGeom>
              <a:avLst/>
              <a:gdLst/>
              <a:ahLst/>
              <a:cxnLst/>
              <a:rect r="r" b="b" t="t" l="l"/>
              <a:pathLst>
                <a:path h="419100" w="1617110">
                  <a:moveTo>
                    <a:pt x="19240" y="0"/>
                  </a:moveTo>
                  <a:lnTo>
                    <a:pt x="1597870" y="0"/>
                  </a:lnTo>
                  <a:cubicBezTo>
                    <a:pt x="1608496" y="0"/>
                    <a:pt x="1617110" y="8614"/>
                    <a:pt x="1617110" y="19240"/>
                  </a:cubicBezTo>
                  <a:lnTo>
                    <a:pt x="1617110" y="399860"/>
                  </a:lnTo>
                  <a:cubicBezTo>
                    <a:pt x="1617110" y="410486"/>
                    <a:pt x="1608496" y="419100"/>
                    <a:pt x="1597870" y="419100"/>
                  </a:cubicBezTo>
                  <a:lnTo>
                    <a:pt x="19240" y="419100"/>
                  </a:lnTo>
                  <a:cubicBezTo>
                    <a:pt x="8614" y="419100"/>
                    <a:pt x="0" y="410486"/>
                    <a:pt x="0" y="399860"/>
                  </a:cubicBezTo>
                  <a:lnTo>
                    <a:pt x="0" y="19240"/>
                  </a:lnTo>
                  <a:cubicBezTo>
                    <a:pt x="0" y="8614"/>
                    <a:pt x="8614" y="0"/>
                    <a:pt x="19240" y="0"/>
                  </a:cubicBezTo>
                  <a:close/>
                </a:path>
              </a:pathLst>
            </a:custGeom>
            <a:solidFill>
              <a:srgbClr val="2C73B6"/>
            </a:solidFill>
          </p:spPr>
        </p:sp>
        <p:sp>
          <p:nvSpPr>
            <p:cNvPr name="TextBox 11" id="11"/>
            <p:cNvSpPr txBox="true"/>
            <p:nvPr/>
          </p:nvSpPr>
          <p:spPr>
            <a:xfrm>
              <a:off x="0" y="-38100"/>
              <a:ext cx="1617110" cy="4572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839156" y="1577644"/>
            <a:ext cx="9260787" cy="1177456"/>
          </a:xfrm>
          <a:prstGeom prst="rect">
            <a:avLst/>
          </a:prstGeom>
        </p:spPr>
        <p:txBody>
          <a:bodyPr anchor="t" rtlCol="false" tIns="0" lIns="0" bIns="0" rIns="0">
            <a:spAutoFit/>
          </a:bodyPr>
          <a:lstStyle/>
          <a:p>
            <a:pPr algn="ctr">
              <a:lnSpc>
                <a:spcPts val="8102"/>
              </a:lnSpc>
            </a:pPr>
            <a:r>
              <a:rPr lang="en-US" sz="8353" b="true">
                <a:solidFill>
                  <a:srgbClr val="022D80"/>
                </a:solidFill>
                <a:latin typeface="Poppins Bold"/>
                <a:ea typeface="Poppins Bold"/>
                <a:cs typeface="Poppins Bold"/>
                <a:sym typeface="Poppins Bold"/>
              </a:rPr>
              <a:t>Data usage</a:t>
            </a:r>
          </a:p>
        </p:txBody>
      </p:sp>
      <p:sp>
        <p:nvSpPr>
          <p:cNvPr name="Freeform 13" id="13"/>
          <p:cNvSpPr/>
          <p:nvPr/>
        </p:nvSpPr>
        <p:spPr>
          <a:xfrm flipH="false" flipV="false" rot="0">
            <a:off x="839156" y="3136636"/>
            <a:ext cx="883898" cy="883898"/>
          </a:xfrm>
          <a:custGeom>
            <a:avLst/>
            <a:gdLst/>
            <a:ahLst/>
            <a:cxnLst/>
            <a:rect r="r" b="b" t="t" l="l"/>
            <a:pathLst>
              <a:path h="883898" w="883898">
                <a:moveTo>
                  <a:pt x="0" y="0"/>
                </a:moveTo>
                <a:lnTo>
                  <a:pt x="883899" y="0"/>
                </a:lnTo>
                <a:lnTo>
                  <a:pt x="883899" y="883898"/>
                </a:lnTo>
                <a:lnTo>
                  <a:pt x="0" y="8838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9779484" y="4634024"/>
            <a:ext cx="8870147" cy="5918807"/>
          </a:xfrm>
          <a:custGeom>
            <a:avLst/>
            <a:gdLst/>
            <a:ahLst/>
            <a:cxnLst/>
            <a:rect r="r" b="b" t="t" l="l"/>
            <a:pathLst>
              <a:path h="5918807" w="8870147">
                <a:moveTo>
                  <a:pt x="8870147" y="0"/>
                </a:moveTo>
                <a:lnTo>
                  <a:pt x="0" y="0"/>
                </a:lnTo>
                <a:lnTo>
                  <a:pt x="0" y="5918807"/>
                </a:lnTo>
                <a:lnTo>
                  <a:pt x="8870147" y="5918807"/>
                </a:lnTo>
                <a:lnTo>
                  <a:pt x="887014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1723055" y="5447247"/>
            <a:ext cx="7225624" cy="1432167"/>
          </a:xfrm>
          <a:prstGeom prst="rect">
            <a:avLst/>
          </a:prstGeom>
        </p:spPr>
        <p:txBody>
          <a:bodyPr anchor="t" rtlCol="false" tIns="0" lIns="0" bIns="0" rIns="0">
            <a:spAutoFit/>
          </a:bodyPr>
          <a:lstStyle/>
          <a:p>
            <a:pPr algn="ctr">
              <a:lnSpc>
                <a:spcPts val="2909"/>
              </a:lnSpc>
            </a:pPr>
            <a:r>
              <a:rPr lang="en-US" sz="2078">
                <a:solidFill>
                  <a:srgbClr val="FFFFFF"/>
                </a:solidFill>
                <a:latin typeface="Canva Sans"/>
                <a:ea typeface="Canva Sans"/>
                <a:cs typeface="Canva Sans"/>
                <a:sym typeface="Canva Sans"/>
              </a:rPr>
              <a:t>Goal: Cluster US counties to a build a health profile to build hypothesis for best use of public health resources and predict underlying issues such as a lack of screening, physician access, economic factors etc.</a:t>
            </a:r>
          </a:p>
        </p:txBody>
      </p:sp>
      <p:sp>
        <p:nvSpPr>
          <p:cNvPr name="TextBox 16" id="16"/>
          <p:cNvSpPr txBox="true"/>
          <p:nvPr/>
        </p:nvSpPr>
        <p:spPr>
          <a:xfrm rot="0">
            <a:off x="1723055" y="7899910"/>
            <a:ext cx="7420945" cy="1098358"/>
          </a:xfrm>
          <a:prstGeom prst="rect">
            <a:avLst/>
          </a:prstGeom>
        </p:spPr>
        <p:txBody>
          <a:bodyPr anchor="t" rtlCol="false" tIns="0" lIns="0" bIns="0" rIns="0">
            <a:spAutoFit/>
          </a:bodyPr>
          <a:lstStyle/>
          <a:p>
            <a:pPr algn="ctr">
              <a:lnSpc>
                <a:spcPts val="2988"/>
              </a:lnSpc>
            </a:pPr>
            <a:r>
              <a:rPr lang="en-US" sz="2134">
                <a:solidFill>
                  <a:srgbClr val="FFFFFF"/>
                </a:solidFill>
                <a:latin typeface="Canva Sans"/>
                <a:ea typeface="Canva Sans"/>
                <a:cs typeface="Canva Sans"/>
                <a:sym typeface="Canva Sans"/>
              </a:rPr>
              <a:t>Dataset: US CDC PLACES County Health Data 2024</a:t>
            </a:r>
          </a:p>
          <a:p>
            <a:pPr algn="ctr">
              <a:lnSpc>
                <a:spcPts val="2988"/>
              </a:lnSpc>
            </a:pPr>
            <a:r>
              <a:rPr lang="en-US" sz="2134">
                <a:solidFill>
                  <a:srgbClr val="FFFFFF"/>
                </a:solidFill>
                <a:latin typeface="Canva Sans"/>
                <a:ea typeface="Canva Sans"/>
                <a:cs typeface="Canva Sans"/>
                <a:sym typeface="Canva Sans"/>
              </a:rPr>
              <a:t>scores all 3,145 US counties on 40 measures of disease, behavior, and access to care</a:t>
            </a:r>
          </a:p>
        </p:txBody>
      </p:sp>
      <p:sp>
        <p:nvSpPr>
          <p:cNvPr name="Freeform 17" id="17"/>
          <p:cNvSpPr/>
          <p:nvPr/>
        </p:nvSpPr>
        <p:spPr>
          <a:xfrm flipH="true" flipV="false" rot="0">
            <a:off x="15667280" y="407604"/>
            <a:ext cx="2739648" cy="1927716"/>
          </a:xfrm>
          <a:custGeom>
            <a:avLst/>
            <a:gdLst/>
            <a:ahLst/>
            <a:cxnLst/>
            <a:rect r="r" b="b" t="t" l="l"/>
            <a:pathLst>
              <a:path h="1927716" w="2739648">
                <a:moveTo>
                  <a:pt x="2739648" y="0"/>
                </a:moveTo>
                <a:lnTo>
                  <a:pt x="0" y="0"/>
                </a:lnTo>
                <a:lnTo>
                  <a:pt x="0" y="1927716"/>
                </a:lnTo>
                <a:lnTo>
                  <a:pt x="2739648" y="1927716"/>
                </a:lnTo>
                <a:lnTo>
                  <a:pt x="2739648"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0">
            <a:off x="9781910" y="1884722"/>
            <a:ext cx="1711188" cy="1711188"/>
          </a:xfrm>
          <a:custGeom>
            <a:avLst/>
            <a:gdLst/>
            <a:ahLst/>
            <a:cxnLst/>
            <a:rect r="r" b="b" t="t" l="l"/>
            <a:pathLst>
              <a:path h="1711188" w="1711188">
                <a:moveTo>
                  <a:pt x="0" y="0"/>
                </a:moveTo>
                <a:lnTo>
                  <a:pt x="1711189" y="0"/>
                </a:lnTo>
                <a:lnTo>
                  <a:pt x="1711189" y="1711188"/>
                </a:lnTo>
                <a:lnTo>
                  <a:pt x="0" y="171118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12068223" y="1364083"/>
            <a:ext cx="1041278" cy="1041278"/>
          </a:xfrm>
          <a:custGeom>
            <a:avLst/>
            <a:gdLst/>
            <a:ahLst/>
            <a:cxnLst/>
            <a:rect r="r" b="b" t="t" l="l"/>
            <a:pathLst>
              <a:path h="1041278" w="1041278">
                <a:moveTo>
                  <a:pt x="0" y="0"/>
                </a:moveTo>
                <a:lnTo>
                  <a:pt x="1041278" y="0"/>
                </a:lnTo>
                <a:lnTo>
                  <a:pt x="1041278" y="1041277"/>
                </a:lnTo>
                <a:lnTo>
                  <a:pt x="0" y="10412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8FBFE"/>
        </a:solidFill>
      </p:bgPr>
    </p:bg>
    <p:spTree>
      <p:nvGrpSpPr>
        <p:cNvPr id="1" name=""/>
        <p:cNvGrpSpPr/>
        <p:nvPr/>
      </p:nvGrpSpPr>
      <p:grpSpPr>
        <a:xfrm>
          <a:off x="0" y="0"/>
          <a:ext cx="0" cy="0"/>
          <a:chOff x="0" y="0"/>
          <a:chExt cx="0" cy="0"/>
        </a:xfrm>
      </p:grpSpPr>
      <p:sp>
        <p:nvSpPr>
          <p:cNvPr name="Freeform 2" id="2"/>
          <p:cNvSpPr/>
          <p:nvPr/>
        </p:nvSpPr>
        <p:spPr>
          <a:xfrm flipH="true" flipV="false" rot="486704">
            <a:off x="-672048" y="-472556"/>
            <a:ext cx="4998350" cy="2762725"/>
          </a:xfrm>
          <a:custGeom>
            <a:avLst/>
            <a:gdLst/>
            <a:ahLst/>
            <a:cxnLst/>
            <a:rect r="r" b="b" t="t" l="l"/>
            <a:pathLst>
              <a:path h="2762725" w="4998350">
                <a:moveTo>
                  <a:pt x="4998350" y="0"/>
                </a:moveTo>
                <a:lnTo>
                  <a:pt x="0" y="0"/>
                </a:lnTo>
                <a:lnTo>
                  <a:pt x="0" y="2762724"/>
                </a:lnTo>
                <a:lnTo>
                  <a:pt x="4998350" y="2762724"/>
                </a:lnTo>
                <a:lnTo>
                  <a:pt x="499835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021590" y="8468139"/>
            <a:ext cx="19940536" cy="2809287"/>
          </a:xfrm>
          <a:custGeom>
            <a:avLst/>
            <a:gdLst/>
            <a:ahLst/>
            <a:cxnLst/>
            <a:rect r="r" b="b" t="t" l="l"/>
            <a:pathLst>
              <a:path h="2809287" w="19940536">
                <a:moveTo>
                  <a:pt x="0" y="2809287"/>
                </a:moveTo>
                <a:lnTo>
                  <a:pt x="19940536" y="2809287"/>
                </a:lnTo>
                <a:lnTo>
                  <a:pt x="19940536" y="0"/>
                </a:lnTo>
                <a:lnTo>
                  <a:pt x="0" y="0"/>
                </a:lnTo>
                <a:lnTo>
                  <a:pt x="0" y="2809287"/>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786673" y="3275644"/>
            <a:ext cx="8586307" cy="8586307"/>
          </a:xfrm>
          <a:custGeom>
            <a:avLst/>
            <a:gdLst/>
            <a:ahLst/>
            <a:cxnLst/>
            <a:rect r="r" b="b" t="t" l="l"/>
            <a:pathLst>
              <a:path h="8586307" w="8586307">
                <a:moveTo>
                  <a:pt x="0" y="0"/>
                </a:moveTo>
                <a:lnTo>
                  <a:pt x="8586307" y="0"/>
                </a:lnTo>
                <a:lnTo>
                  <a:pt x="8586307" y="8586307"/>
                </a:lnTo>
                <a:lnTo>
                  <a:pt x="0" y="85863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6215375" y="572072"/>
            <a:ext cx="5407143" cy="5407143"/>
          </a:xfrm>
          <a:custGeom>
            <a:avLst/>
            <a:gdLst/>
            <a:ahLst/>
            <a:cxnLst/>
            <a:rect r="r" b="b" t="t" l="l"/>
            <a:pathLst>
              <a:path h="5407143" w="5407143">
                <a:moveTo>
                  <a:pt x="5407143" y="0"/>
                </a:moveTo>
                <a:lnTo>
                  <a:pt x="0" y="0"/>
                </a:lnTo>
                <a:lnTo>
                  <a:pt x="0" y="5407143"/>
                </a:lnTo>
                <a:lnTo>
                  <a:pt x="5407143" y="5407143"/>
                </a:lnTo>
                <a:lnTo>
                  <a:pt x="5407143"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178004" y="654256"/>
            <a:ext cx="15931991" cy="2206156"/>
          </a:xfrm>
          <a:prstGeom prst="rect">
            <a:avLst/>
          </a:prstGeom>
        </p:spPr>
        <p:txBody>
          <a:bodyPr anchor="t" rtlCol="false" tIns="0" lIns="0" bIns="0" rIns="0">
            <a:spAutoFit/>
          </a:bodyPr>
          <a:lstStyle/>
          <a:p>
            <a:pPr algn="ctr">
              <a:lnSpc>
                <a:spcPts val="8102"/>
              </a:lnSpc>
            </a:pPr>
            <a:r>
              <a:rPr lang="en-US" sz="8353" b="true">
                <a:solidFill>
                  <a:srgbClr val="022D80"/>
                </a:solidFill>
                <a:latin typeface="Poppins Bold"/>
                <a:ea typeface="Poppins Bold"/>
                <a:cs typeface="Poppins Bold"/>
                <a:sym typeface="Poppins Bold"/>
              </a:rPr>
              <a:t>Machine Learning Algortihms </a:t>
            </a:r>
          </a:p>
        </p:txBody>
      </p:sp>
      <p:sp>
        <p:nvSpPr>
          <p:cNvPr name="Freeform 7" id="7"/>
          <p:cNvSpPr/>
          <p:nvPr/>
        </p:nvSpPr>
        <p:spPr>
          <a:xfrm flipH="false" flipV="false" rot="0">
            <a:off x="839156" y="3136636"/>
            <a:ext cx="883898" cy="883898"/>
          </a:xfrm>
          <a:custGeom>
            <a:avLst/>
            <a:gdLst/>
            <a:ahLst/>
            <a:cxnLst/>
            <a:rect r="r" b="b" t="t" l="l"/>
            <a:pathLst>
              <a:path h="883898" w="883898">
                <a:moveTo>
                  <a:pt x="0" y="0"/>
                </a:moveTo>
                <a:lnTo>
                  <a:pt x="883899" y="0"/>
                </a:lnTo>
                <a:lnTo>
                  <a:pt x="883899" y="883898"/>
                </a:lnTo>
                <a:lnTo>
                  <a:pt x="0" y="8838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true" flipV="false" rot="0">
            <a:off x="15667280" y="407604"/>
            <a:ext cx="2739648" cy="1927716"/>
          </a:xfrm>
          <a:custGeom>
            <a:avLst/>
            <a:gdLst/>
            <a:ahLst/>
            <a:cxnLst/>
            <a:rect r="r" b="b" t="t" l="l"/>
            <a:pathLst>
              <a:path h="1927716" w="2739648">
                <a:moveTo>
                  <a:pt x="2739648" y="0"/>
                </a:moveTo>
                <a:lnTo>
                  <a:pt x="0" y="0"/>
                </a:lnTo>
                <a:lnTo>
                  <a:pt x="0" y="1927716"/>
                </a:lnTo>
                <a:lnTo>
                  <a:pt x="2739648" y="1927716"/>
                </a:lnTo>
                <a:lnTo>
                  <a:pt x="273964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3173280" y="2234366"/>
            <a:ext cx="1041278" cy="1041278"/>
          </a:xfrm>
          <a:custGeom>
            <a:avLst/>
            <a:gdLst/>
            <a:ahLst/>
            <a:cxnLst/>
            <a:rect r="r" b="b" t="t" l="l"/>
            <a:pathLst>
              <a:path h="1041278" w="1041278">
                <a:moveTo>
                  <a:pt x="0" y="0"/>
                </a:moveTo>
                <a:lnTo>
                  <a:pt x="1041278" y="0"/>
                </a:lnTo>
                <a:lnTo>
                  <a:pt x="1041278" y="1041278"/>
                </a:lnTo>
                <a:lnTo>
                  <a:pt x="0" y="10412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0" id="10"/>
          <p:cNvGrpSpPr/>
          <p:nvPr/>
        </p:nvGrpSpPr>
        <p:grpSpPr>
          <a:xfrm rot="0">
            <a:off x="6942350" y="5143500"/>
            <a:ext cx="3572906" cy="4882624"/>
            <a:chOff x="0" y="0"/>
            <a:chExt cx="735166" cy="1004655"/>
          </a:xfrm>
        </p:grpSpPr>
        <p:sp>
          <p:nvSpPr>
            <p:cNvPr name="Freeform 11" id="11"/>
            <p:cNvSpPr/>
            <p:nvPr/>
          </p:nvSpPr>
          <p:spPr>
            <a:xfrm flipH="false" flipV="false" rot="0">
              <a:off x="0" y="0"/>
              <a:ext cx="735166" cy="1004655"/>
            </a:xfrm>
            <a:custGeom>
              <a:avLst/>
              <a:gdLst/>
              <a:ahLst/>
              <a:cxnLst/>
              <a:rect r="r" b="b" t="t" l="l"/>
              <a:pathLst>
                <a:path h="1004655" w="735166">
                  <a:moveTo>
                    <a:pt x="42321" y="0"/>
                  </a:moveTo>
                  <a:lnTo>
                    <a:pt x="692845" y="0"/>
                  </a:lnTo>
                  <a:cubicBezTo>
                    <a:pt x="704069" y="0"/>
                    <a:pt x="714834" y="4459"/>
                    <a:pt x="722770" y="12396"/>
                  </a:cubicBezTo>
                  <a:cubicBezTo>
                    <a:pt x="730707" y="20332"/>
                    <a:pt x="735166" y="31097"/>
                    <a:pt x="735166" y="42321"/>
                  </a:cubicBezTo>
                  <a:lnTo>
                    <a:pt x="735166" y="962334"/>
                  </a:lnTo>
                  <a:cubicBezTo>
                    <a:pt x="735166" y="973558"/>
                    <a:pt x="730707" y="984323"/>
                    <a:pt x="722770" y="992260"/>
                  </a:cubicBezTo>
                  <a:cubicBezTo>
                    <a:pt x="714834" y="1000196"/>
                    <a:pt x="704069" y="1004655"/>
                    <a:pt x="692845" y="1004655"/>
                  </a:cubicBezTo>
                  <a:lnTo>
                    <a:pt x="42321" y="1004655"/>
                  </a:lnTo>
                  <a:cubicBezTo>
                    <a:pt x="31097" y="1004655"/>
                    <a:pt x="20332" y="1000196"/>
                    <a:pt x="12396" y="992260"/>
                  </a:cubicBezTo>
                  <a:cubicBezTo>
                    <a:pt x="4459" y="984323"/>
                    <a:pt x="0" y="973558"/>
                    <a:pt x="0" y="962334"/>
                  </a:cubicBezTo>
                  <a:lnTo>
                    <a:pt x="0" y="42321"/>
                  </a:lnTo>
                  <a:cubicBezTo>
                    <a:pt x="0" y="31097"/>
                    <a:pt x="4459" y="20332"/>
                    <a:pt x="12396" y="12396"/>
                  </a:cubicBezTo>
                  <a:cubicBezTo>
                    <a:pt x="20332" y="4459"/>
                    <a:pt x="31097" y="0"/>
                    <a:pt x="42321" y="0"/>
                  </a:cubicBezTo>
                  <a:close/>
                </a:path>
              </a:pathLst>
            </a:custGeom>
            <a:solidFill>
              <a:srgbClr val="2C73B6"/>
            </a:solidFill>
          </p:spPr>
        </p:sp>
        <p:sp>
          <p:nvSpPr>
            <p:cNvPr name="TextBox 12" id="12"/>
            <p:cNvSpPr txBox="true"/>
            <p:nvPr/>
          </p:nvSpPr>
          <p:spPr>
            <a:xfrm>
              <a:off x="0" y="-38100"/>
              <a:ext cx="735166" cy="104275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7416589" y="5409629"/>
            <a:ext cx="2836315" cy="4389979"/>
          </a:xfrm>
          <a:prstGeom prst="rect">
            <a:avLst/>
          </a:prstGeom>
        </p:spPr>
        <p:txBody>
          <a:bodyPr anchor="t" rtlCol="false" tIns="0" lIns="0" bIns="0" rIns="0">
            <a:spAutoFit/>
          </a:bodyPr>
          <a:lstStyle/>
          <a:p>
            <a:pPr algn="ctr">
              <a:lnSpc>
                <a:spcPts val="3207"/>
              </a:lnSpc>
            </a:pPr>
            <a:r>
              <a:rPr lang="en-US" sz="2291" b="true">
                <a:solidFill>
                  <a:srgbClr val="FFFFFF"/>
                </a:solidFill>
                <a:latin typeface="Canva Sans Bold"/>
                <a:ea typeface="Canva Sans Bold"/>
                <a:cs typeface="Canva Sans Bold"/>
                <a:sym typeface="Canva Sans Bold"/>
              </a:rPr>
              <a:t>K-means Clustering </a:t>
            </a:r>
          </a:p>
          <a:p>
            <a:pPr algn="ctr">
              <a:lnSpc>
                <a:spcPts val="3207"/>
              </a:lnSpc>
            </a:pPr>
          </a:p>
          <a:p>
            <a:pPr algn="ctr">
              <a:lnSpc>
                <a:spcPts val="3207"/>
              </a:lnSpc>
            </a:pPr>
            <a:r>
              <a:rPr lang="en-US" sz="2291">
                <a:solidFill>
                  <a:srgbClr val="FFFFFF"/>
                </a:solidFill>
                <a:latin typeface="Canva Sans"/>
                <a:ea typeface="Canva Sans"/>
                <a:cs typeface="Canva Sans"/>
                <a:sym typeface="Canva Sans"/>
              </a:rPr>
              <a:t>To group around 3,000 counties into distinct clusters based on similarities in health outcomes, behaviors and access measures. </a:t>
            </a:r>
          </a:p>
          <a:p>
            <a:pPr algn="ctr">
              <a:lnSpc>
                <a:spcPts val="3207"/>
              </a:lnSpc>
            </a:pPr>
          </a:p>
        </p:txBody>
      </p:sp>
      <p:grpSp>
        <p:nvGrpSpPr>
          <p:cNvPr name="Group 14" id="14"/>
          <p:cNvGrpSpPr/>
          <p:nvPr/>
        </p:nvGrpSpPr>
        <p:grpSpPr>
          <a:xfrm rot="0">
            <a:off x="13173280" y="5143500"/>
            <a:ext cx="3572906" cy="4729283"/>
            <a:chOff x="0" y="0"/>
            <a:chExt cx="735166" cy="973103"/>
          </a:xfrm>
        </p:grpSpPr>
        <p:sp>
          <p:nvSpPr>
            <p:cNvPr name="Freeform 15" id="15"/>
            <p:cNvSpPr/>
            <p:nvPr/>
          </p:nvSpPr>
          <p:spPr>
            <a:xfrm flipH="false" flipV="false" rot="0">
              <a:off x="0" y="0"/>
              <a:ext cx="735166" cy="973103"/>
            </a:xfrm>
            <a:custGeom>
              <a:avLst/>
              <a:gdLst/>
              <a:ahLst/>
              <a:cxnLst/>
              <a:rect r="r" b="b" t="t" l="l"/>
              <a:pathLst>
                <a:path h="973103" w="735166">
                  <a:moveTo>
                    <a:pt x="42321" y="0"/>
                  </a:moveTo>
                  <a:lnTo>
                    <a:pt x="692845" y="0"/>
                  </a:lnTo>
                  <a:cubicBezTo>
                    <a:pt x="704069" y="0"/>
                    <a:pt x="714834" y="4459"/>
                    <a:pt x="722770" y="12396"/>
                  </a:cubicBezTo>
                  <a:cubicBezTo>
                    <a:pt x="730707" y="20332"/>
                    <a:pt x="735166" y="31097"/>
                    <a:pt x="735166" y="42321"/>
                  </a:cubicBezTo>
                  <a:lnTo>
                    <a:pt x="735166" y="930782"/>
                  </a:lnTo>
                  <a:cubicBezTo>
                    <a:pt x="735166" y="942007"/>
                    <a:pt x="730707" y="952771"/>
                    <a:pt x="722770" y="960708"/>
                  </a:cubicBezTo>
                  <a:cubicBezTo>
                    <a:pt x="714834" y="968645"/>
                    <a:pt x="704069" y="973103"/>
                    <a:pt x="692845" y="973103"/>
                  </a:cubicBezTo>
                  <a:lnTo>
                    <a:pt x="42321" y="973103"/>
                  </a:lnTo>
                  <a:cubicBezTo>
                    <a:pt x="31097" y="973103"/>
                    <a:pt x="20332" y="968645"/>
                    <a:pt x="12396" y="960708"/>
                  </a:cubicBezTo>
                  <a:cubicBezTo>
                    <a:pt x="4459" y="952771"/>
                    <a:pt x="0" y="942007"/>
                    <a:pt x="0" y="930782"/>
                  </a:cubicBezTo>
                  <a:lnTo>
                    <a:pt x="0" y="42321"/>
                  </a:lnTo>
                  <a:cubicBezTo>
                    <a:pt x="0" y="31097"/>
                    <a:pt x="4459" y="20332"/>
                    <a:pt x="12396" y="12396"/>
                  </a:cubicBezTo>
                  <a:cubicBezTo>
                    <a:pt x="20332" y="4459"/>
                    <a:pt x="31097" y="0"/>
                    <a:pt x="42321" y="0"/>
                  </a:cubicBezTo>
                  <a:close/>
                </a:path>
              </a:pathLst>
            </a:custGeom>
            <a:solidFill>
              <a:srgbClr val="2C73B6"/>
            </a:solidFill>
          </p:spPr>
        </p:sp>
        <p:sp>
          <p:nvSpPr>
            <p:cNvPr name="TextBox 16" id="16"/>
            <p:cNvSpPr txBox="true"/>
            <p:nvPr/>
          </p:nvSpPr>
          <p:spPr>
            <a:xfrm>
              <a:off x="0" y="-38100"/>
              <a:ext cx="735166" cy="1011203"/>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923307" y="5143500"/>
            <a:ext cx="3572906" cy="4729283"/>
            <a:chOff x="0" y="0"/>
            <a:chExt cx="735166" cy="973103"/>
          </a:xfrm>
        </p:grpSpPr>
        <p:sp>
          <p:nvSpPr>
            <p:cNvPr name="Freeform 18" id="18"/>
            <p:cNvSpPr/>
            <p:nvPr/>
          </p:nvSpPr>
          <p:spPr>
            <a:xfrm flipH="false" flipV="false" rot="0">
              <a:off x="0" y="0"/>
              <a:ext cx="735166" cy="973103"/>
            </a:xfrm>
            <a:custGeom>
              <a:avLst/>
              <a:gdLst/>
              <a:ahLst/>
              <a:cxnLst/>
              <a:rect r="r" b="b" t="t" l="l"/>
              <a:pathLst>
                <a:path h="973103" w="735166">
                  <a:moveTo>
                    <a:pt x="42321" y="0"/>
                  </a:moveTo>
                  <a:lnTo>
                    <a:pt x="692845" y="0"/>
                  </a:lnTo>
                  <a:cubicBezTo>
                    <a:pt x="704069" y="0"/>
                    <a:pt x="714834" y="4459"/>
                    <a:pt x="722770" y="12396"/>
                  </a:cubicBezTo>
                  <a:cubicBezTo>
                    <a:pt x="730707" y="20332"/>
                    <a:pt x="735166" y="31097"/>
                    <a:pt x="735166" y="42321"/>
                  </a:cubicBezTo>
                  <a:lnTo>
                    <a:pt x="735166" y="930782"/>
                  </a:lnTo>
                  <a:cubicBezTo>
                    <a:pt x="735166" y="942007"/>
                    <a:pt x="730707" y="952771"/>
                    <a:pt x="722770" y="960708"/>
                  </a:cubicBezTo>
                  <a:cubicBezTo>
                    <a:pt x="714834" y="968645"/>
                    <a:pt x="704069" y="973103"/>
                    <a:pt x="692845" y="973103"/>
                  </a:cubicBezTo>
                  <a:lnTo>
                    <a:pt x="42321" y="973103"/>
                  </a:lnTo>
                  <a:cubicBezTo>
                    <a:pt x="31097" y="973103"/>
                    <a:pt x="20332" y="968645"/>
                    <a:pt x="12396" y="960708"/>
                  </a:cubicBezTo>
                  <a:cubicBezTo>
                    <a:pt x="4459" y="952771"/>
                    <a:pt x="0" y="942007"/>
                    <a:pt x="0" y="930782"/>
                  </a:cubicBezTo>
                  <a:lnTo>
                    <a:pt x="0" y="42321"/>
                  </a:lnTo>
                  <a:cubicBezTo>
                    <a:pt x="0" y="31097"/>
                    <a:pt x="4459" y="20332"/>
                    <a:pt x="12396" y="12396"/>
                  </a:cubicBezTo>
                  <a:cubicBezTo>
                    <a:pt x="20332" y="4459"/>
                    <a:pt x="31097" y="0"/>
                    <a:pt x="42321" y="0"/>
                  </a:cubicBezTo>
                  <a:close/>
                </a:path>
              </a:pathLst>
            </a:custGeom>
            <a:solidFill>
              <a:srgbClr val="2C73B6"/>
            </a:solidFill>
          </p:spPr>
        </p:sp>
        <p:sp>
          <p:nvSpPr>
            <p:cNvPr name="TextBox 19" id="19"/>
            <p:cNvSpPr txBox="true"/>
            <p:nvPr/>
          </p:nvSpPr>
          <p:spPr>
            <a:xfrm>
              <a:off x="0" y="-38100"/>
              <a:ext cx="735166" cy="1011203"/>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241264" y="5280860"/>
            <a:ext cx="2936992" cy="4745265"/>
          </a:xfrm>
          <a:prstGeom prst="rect">
            <a:avLst/>
          </a:prstGeom>
        </p:spPr>
        <p:txBody>
          <a:bodyPr anchor="t" rtlCol="false" tIns="0" lIns="0" bIns="0" rIns="0">
            <a:spAutoFit/>
          </a:bodyPr>
          <a:lstStyle/>
          <a:p>
            <a:pPr algn="ctr">
              <a:lnSpc>
                <a:spcPts val="3189"/>
              </a:lnSpc>
            </a:pPr>
            <a:r>
              <a:rPr lang="en-US" sz="2278" b="true">
                <a:solidFill>
                  <a:srgbClr val="FFFFFF"/>
                </a:solidFill>
                <a:latin typeface="Canva Sans Bold"/>
                <a:ea typeface="Canva Sans Bold"/>
                <a:cs typeface="Canva Sans Bold"/>
                <a:sym typeface="Canva Sans Bold"/>
              </a:rPr>
              <a:t>Principle Component Analysis</a:t>
            </a:r>
          </a:p>
          <a:p>
            <a:pPr algn="ctr">
              <a:lnSpc>
                <a:spcPts val="3189"/>
              </a:lnSpc>
            </a:pPr>
          </a:p>
          <a:p>
            <a:pPr algn="ctr">
              <a:lnSpc>
                <a:spcPts val="3189"/>
              </a:lnSpc>
            </a:pPr>
            <a:r>
              <a:rPr lang="en-US" sz="2278">
                <a:solidFill>
                  <a:srgbClr val="FFFFFF"/>
                </a:solidFill>
                <a:latin typeface="Canva Sans"/>
                <a:ea typeface="Canva Sans"/>
                <a:cs typeface="Canva Sans"/>
                <a:sym typeface="Canva Sans"/>
              </a:rPr>
              <a:t>To reduce dimensionality of 40+ health indicators (example; highly correlated disease rates) to ensure clustering is more stable.</a:t>
            </a:r>
          </a:p>
          <a:p>
            <a:pPr algn="ctr">
              <a:lnSpc>
                <a:spcPts val="2909"/>
              </a:lnSpc>
            </a:pPr>
          </a:p>
        </p:txBody>
      </p:sp>
      <p:sp>
        <p:nvSpPr>
          <p:cNvPr name="TextBox 21" id="21"/>
          <p:cNvSpPr txBox="true"/>
          <p:nvPr/>
        </p:nvSpPr>
        <p:spPr>
          <a:xfrm rot="0">
            <a:off x="13541575" y="5366010"/>
            <a:ext cx="2836315" cy="4389979"/>
          </a:xfrm>
          <a:prstGeom prst="rect">
            <a:avLst/>
          </a:prstGeom>
        </p:spPr>
        <p:txBody>
          <a:bodyPr anchor="t" rtlCol="false" tIns="0" lIns="0" bIns="0" rIns="0">
            <a:spAutoFit/>
          </a:bodyPr>
          <a:lstStyle/>
          <a:p>
            <a:pPr algn="ctr">
              <a:lnSpc>
                <a:spcPts val="3207"/>
              </a:lnSpc>
            </a:pPr>
            <a:r>
              <a:rPr lang="en-US" sz="2291" b="true">
                <a:solidFill>
                  <a:srgbClr val="FFFFFF"/>
                </a:solidFill>
                <a:latin typeface="Canva Sans Bold"/>
                <a:ea typeface="Canva Sans Bold"/>
                <a:cs typeface="Canva Sans Bold"/>
                <a:sym typeface="Canva Sans Bold"/>
              </a:rPr>
              <a:t>Hierarchical Clustering </a:t>
            </a:r>
          </a:p>
          <a:p>
            <a:pPr algn="ctr">
              <a:lnSpc>
                <a:spcPts val="3207"/>
              </a:lnSpc>
            </a:pPr>
          </a:p>
          <a:p>
            <a:pPr algn="ctr">
              <a:lnSpc>
                <a:spcPts val="3207"/>
              </a:lnSpc>
            </a:pPr>
            <a:r>
              <a:rPr lang="en-US" sz="2291">
                <a:solidFill>
                  <a:srgbClr val="FFFFFF"/>
                </a:solidFill>
                <a:latin typeface="Canva Sans"/>
                <a:ea typeface="Canva Sans"/>
                <a:cs typeface="Canva Sans"/>
                <a:sym typeface="Canva Sans"/>
              </a:rPr>
              <a:t>to generate a dendrogram that helps confirm if the numbers of clusters (k) found by K-Means is natural or forced</a:t>
            </a:r>
          </a:p>
          <a:p>
            <a:pPr algn="ctr">
              <a:lnSpc>
                <a:spcPts val="3207"/>
              </a:lnSpc>
            </a:pPr>
          </a:p>
        </p:txBody>
      </p:sp>
      <p:sp>
        <p:nvSpPr>
          <p:cNvPr name="TextBox 22" id="22"/>
          <p:cNvSpPr txBox="true"/>
          <p:nvPr/>
        </p:nvSpPr>
        <p:spPr>
          <a:xfrm rot="0">
            <a:off x="1083891" y="4563459"/>
            <a:ext cx="3251738" cy="351587"/>
          </a:xfrm>
          <a:prstGeom prst="rect">
            <a:avLst/>
          </a:prstGeom>
        </p:spPr>
        <p:txBody>
          <a:bodyPr anchor="t" rtlCol="false" tIns="0" lIns="0" bIns="0" rIns="0">
            <a:spAutoFit/>
          </a:bodyPr>
          <a:lstStyle/>
          <a:p>
            <a:pPr algn="ctr">
              <a:lnSpc>
                <a:spcPts val="2502"/>
              </a:lnSpc>
            </a:pPr>
            <a:r>
              <a:rPr lang="en-US" sz="2579" b="true">
                <a:solidFill>
                  <a:srgbClr val="022D80"/>
                </a:solidFill>
                <a:latin typeface="Poppins Bold"/>
                <a:ea typeface="Poppins Bold"/>
                <a:cs typeface="Poppins Bold"/>
                <a:sym typeface="Poppins Bold"/>
              </a:rPr>
              <a:t>Algorithm 1</a:t>
            </a:r>
          </a:p>
        </p:txBody>
      </p:sp>
      <p:sp>
        <p:nvSpPr>
          <p:cNvPr name="TextBox 23" id="23"/>
          <p:cNvSpPr txBox="true"/>
          <p:nvPr/>
        </p:nvSpPr>
        <p:spPr>
          <a:xfrm rot="0">
            <a:off x="7102934" y="4563459"/>
            <a:ext cx="3251738" cy="351587"/>
          </a:xfrm>
          <a:prstGeom prst="rect">
            <a:avLst/>
          </a:prstGeom>
        </p:spPr>
        <p:txBody>
          <a:bodyPr anchor="t" rtlCol="false" tIns="0" lIns="0" bIns="0" rIns="0">
            <a:spAutoFit/>
          </a:bodyPr>
          <a:lstStyle/>
          <a:p>
            <a:pPr algn="ctr">
              <a:lnSpc>
                <a:spcPts val="2502"/>
              </a:lnSpc>
            </a:pPr>
            <a:r>
              <a:rPr lang="en-US" sz="2579" b="true">
                <a:solidFill>
                  <a:srgbClr val="022D80"/>
                </a:solidFill>
                <a:latin typeface="Poppins Bold"/>
                <a:ea typeface="Poppins Bold"/>
                <a:cs typeface="Poppins Bold"/>
                <a:sym typeface="Poppins Bold"/>
              </a:rPr>
              <a:t>Algorithm 2</a:t>
            </a:r>
          </a:p>
        </p:txBody>
      </p:sp>
      <p:sp>
        <p:nvSpPr>
          <p:cNvPr name="TextBox 24" id="24"/>
          <p:cNvSpPr txBox="true"/>
          <p:nvPr/>
        </p:nvSpPr>
        <p:spPr>
          <a:xfrm rot="0">
            <a:off x="13333864" y="4563459"/>
            <a:ext cx="3251738" cy="351587"/>
          </a:xfrm>
          <a:prstGeom prst="rect">
            <a:avLst/>
          </a:prstGeom>
        </p:spPr>
        <p:txBody>
          <a:bodyPr anchor="t" rtlCol="false" tIns="0" lIns="0" bIns="0" rIns="0">
            <a:spAutoFit/>
          </a:bodyPr>
          <a:lstStyle/>
          <a:p>
            <a:pPr algn="ctr">
              <a:lnSpc>
                <a:spcPts val="2502"/>
              </a:lnSpc>
            </a:pPr>
            <a:r>
              <a:rPr lang="en-US" sz="2579" b="true">
                <a:solidFill>
                  <a:srgbClr val="022D80"/>
                </a:solidFill>
                <a:latin typeface="Poppins Bold"/>
                <a:ea typeface="Poppins Bold"/>
                <a:cs typeface="Poppins Bold"/>
                <a:sym typeface="Poppins Bold"/>
              </a:rPr>
              <a:t>Algorithm 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56A2"/>
        </a:solidFill>
      </p:bgPr>
    </p:bg>
    <p:spTree>
      <p:nvGrpSpPr>
        <p:cNvPr id="1" name=""/>
        <p:cNvGrpSpPr/>
        <p:nvPr/>
      </p:nvGrpSpPr>
      <p:grpSpPr>
        <a:xfrm>
          <a:off x="0" y="0"/>
          <a:ext cx="0" cy="0"/>
          <a:chOff x="0" y="0"/>
          <a:chExt cx="0" cy="0"/>
        </a:xfrm>
      </p:grpSpPr>
      <p:sp>
        <p:nvSpPr>
          <p:cNvPr name="TextBox 2" id="2"/>
          <p:cNvSpPr txBox="true"/>
          <p:nvPr/>
        </p:nvSpPr>
        <p:spPr>
          <a:xfrm rot="0">
            <a:off x="600790" y="1809084"/>
            <a:ext cx="13500008" cy="7140414"/>
          </a:xfrm>
          <a:prstGeom prst="rect">
            <a:avLst/>
          </a:prstGeom>
        </p:spPr>
        <p:txBody>
          <a:bodyPr anchor="t" rtlCol="false" tIns="0" lIns="0" bIns="0" rIns="0">
            <a:spAutoFit/>
          </a:bodyPr>
          <a:lstStyle/>
          <a:p>
            <a:pPr algn="l" marL="894527" indent="-447264" lvl="1">
              <a:lnSpc>
                <a:spcPts val="4640"/>
              </a:lnSpc>
              <a:buFont typeface="Arial"/>
              <a:buChar char="•"/>
            </a:pPr>
            <a:r>
              <a:rPr lang="en-US" b="true" sz="4143">
                <a:solidFill>
                  <a:srgbClr val="FFFFFF"/>
                </a:solidFill>
                <a:latin typeface="Poppins Bold"/>
                <a:ea typeface="Poppins Bold"/>
                <a:cs typeface="Poppins Bold"/>
                <a:sym typeface="Poppins Bold"/>
              </a:rPr>
              <a:t>Model Bias</a:t>
            </a:r>
          </a:p>
          <a:p>
            <a:pPr algn="l" marL="1165860" indent="-388620" lvl="2">
              <a:lnSpc>
                <a:spcPts val="3024"/>
              </a:lnSpc>
              <a:buFont typeface="Arial"/>
              <a:buChar char="⚬"/>
            </a:pPr>
            <a:r>
              <a:rPr lang="en-US" b="true" sz="2700">
                <a:solidFill>
                  <a:srgbClr val="FFFFFF"/>
                </a:solidFill>
                <a:latin typeface="Poppins Bold"/>
                <a:ea typeface="Poppins Bold"/>
                <a:cs typeface="Poppins Bold"/>
                <a:sym typeface="Poppins Bold"/>
              </a:rPr>
              <a:t>PLACES values are estimated from a survey plus demographics, not counted, so similar-looking counties get similar numbers by default</a:t>
            </a:r>
          </a:p>
          <a:p>
            <a:pPr algn="l" marL="1165860" indent="-388620" lvl="2">
              <a:lnSpc>
                <a:spcPts val="3024"/>
              </a:lnSpc>
              <a:buFont typeface="Arial"/>
              <a:buChar char="⚬"/>
            </a:pPr>
            <a:r>
              <a:rPr lang="en-US" b="true" sz="2700">
                <a:solidFill>
                  <a:srgbClr val="FFFFFF"/>
                </a:solidFill>
                <a:latin typeface="Poppins Bold"/>
                <a:ea typeface="Poppins Bold"/>
                <a:cs typeface="Poppins Bold"/>
                <a:sym typeface="Poppins Bold"/>
              </a:rPr>
              <a:t>To mitigate, we plan to use the confidence limit columns to flag shaky estimates and report them</a:t>
            </a:r>
          </a:p>
          <a:p>
            <a:pPr algn="l">
              <a:lnSpc>
                <a:spcPts val="3135"/>
              </a:lnSpc>
            </a:pPr>
          </a:p>
          <a:p>
            <a:pPr algn="l" marL="894527" indent="-447264" lvl="1">
              <a:lnSpc>
                <a:spcPts val="4640"/>
              </a:lnSpc>
              <a:buFont typeface="Arial"/>
              <a:buChar char="•"/>
            </a:pPr>
            <a:r>
              <a:rPr lang="en-US" b="true" sz="4143">
                <a:solidFill>
                  <a:srgbClr val="FFFFFF"/>
                </a:solidFill>
                <a:latin typeface="Poppins Bold"/>
                <a:ea typeface="Poppins Bold"/>
                <a:cs typeface="Poppins Bold"/>
                <a:sym typeface="Poppins Bold"/>
              </a:rPr>
              <a:t>Aggregation Bias</a:t>
            </a:r>
          </a:p>
          <a:p>
            <a:pPr algn="l" marL="1165860" indent="-388620" lvl="2">
              <a:lnSpc>
                <a:spcPts val="3024"/>
              </a:lnSpc>
              <a:buFont typeface="Arial"/>
              <a:buChar char="⚬"/>
            </a:pPr>
            <a:r>
              <a:rPr lang="en-US" b="true" sz="2700">
                <a:solidFill>
                  <a:srgbClr val="FFFFFF"/>
                </a:solidFill>
                <a:latin typeface="Poppins Bold"/>
                <a:ea typeface="Poppins Bold"/>
                <a:cs typeface="Poppins Bold"/>
                <a:sym typeface="Poppins Bold"/>
              </a:rPr>
              <a:t>One county-wide average hides the rich and poor neighborhoods inside it</a:t>
            </a:r>
          </a:p>
          <a:p>
            <a:pPr algn="l" marL="1165860" indent="-388620" lvl="2">
              <a:lnSpc>
                <a:spcPts val="3024"/>
              </a:lnSpc>
              <a:buFont typeface="Arial"/>
              <a:buChar char="⚬"/>
            </a:pPr>
            <a:r>
              <a:rPr lang="en-US" b="true" sz="2700">
                <a:solidFill>
                  <a:srgbClr val="FFFFFF"/>
                </a:solidFill>
                <a:latin typeface="Poppins Bold"/>
                <a:ea typeface="Poppins Bold"/>
                <a:cs typeface="Poppins Bold"/>
                <a:sym typeface="Poppins Bold"/>
              </a:rPr>
              <a:t>To mitigate, we would state that types describe counties, not individuals, and never act on a single county number alone</a:t>
            </a:r>
          </a:p>
          <a:p>
            <a:pPr algn="l">
              <a:lnSpc>
                <a:spcPts val="3135"/>
              </a:lnSpc>
            </a:pPr>
          </a:p>
          <a:p>
            <a:pPr algn="l" marL="894527" indent="-447264" lvl="1">
              <a:lnSpc>
                <a:spcPts val="4640"/>
              </a:lnSpc>
              <a:buFont typeface="Arial"/>
              <a:buChar char="•"/>
            </a:pPr>
            <a:r>
              <a:rPr lang="en-US" b="true" sz="4143">
                <a:solidFill>
                  <a:srgbClr val="FFFFFF"/>
                </a:solidFill>
                <a:latin typeface="Poppins Bold"/>
                <a:ea typeface="Poppins Bold"/>
                <a:cs typeface="Poppins Bold"/>
                <a:sym typeface="Poppins Bold"/>
              </a:rPr>
              <a:t>Sampling Bias</a:t>
            </a:r>
          </a:p>
          <a:p>
            <a:pPr algn="l" marL="1165860" indent="-388620" lvl="2">
              <a:lnSpc>
                <a:spcPts val="3024"/>
              </a:lnSpc>
              <a:buFont typeface="Arial"/>
              <a:buChar char="⚬"/>
            </a:pPr>
            <a:r>
              <a:rPr lang="en-US" b="true" sz="2700">
                <a:solidFill>
                  <a:srgbClr val="FFFFFF"/>
                </a:solidFill>
                <a:latin typeface="Poppins Bold"/>
                <a:ea typeface="Poppins Bold"/>
                <a:cs typeface="Poppins Bold"/>
                <a:sym typeface="Poppins Bold"/>
              </a:rPr>
              <a:t>It’s a self-report phone survey, so it misses people without phones, non-English speakers, and undercounts stigmatized conditions</a:t>
            </a:r>
          </a:p>
          <a:p>
            <a:pPr algn="l" marL="1165860" indent="-388620" lvl="2">
              <a:lnSpc>
                <a:spcPts val="3024"/>
              </a:lnSpc>
              <a:buFont typeface="Arial"/>
              <a:buChar char="⚬"/>
            </a:pPr>
            <a:r>
              <a:rPr lang="en-US" b="true" sz="2700">
                <a:solidFill>
                  <a:srgbClr val="FFFFFF"/>
                </a:solidFill>
                <a:latin typeface="Poppins Bold"/>
                <a:ea typeface="Poppins Bold"/>
                <a:cs typeface="Poppins Bold"/>
                <a:sym typeface="Poppins Bold"/>
              </a:rPr>
              <a:t>To mitigate, we would treat results as approximate and note which groups the survey underrepresents</a:t>
            </a:r>
          </a:p>
        </p:txBody>
      </p:sp>
      <p:sp>
        <p:nvSpPr>
          <p:cNvPr name="TextBox 3" id="3"/>
          <p:cNvSpPr txBox="true"/>
          <p:nvPr/>
        </p:nvSpPr>
        <p:spPr>
          <a:xfrm rot="0">
            <a:off x="1028700" y="394088"/>
            <a:ext cx="9260787" cy="1269223"/>
          </a:xfrm>
          <a:prstGeom prst="rect">
            <a:avLst/>
          </a:prstGeom>
        </p:spPr>
        <p:txBody>
          <a:bodyPr anchor="t" rtlCol="false" tIns="0" lIns="0" bIns="0" rIns="0">
            <a:spAutoFit/>
          </a:bodyPr>
          <a:lstStyle/>
          <a:p>
            <a:pPr algn="l">
              <a:lnSpc>
                <a:spcPts val="9105"/>
              </a:lnSpc>
            </a:pPr>
            <a:r>
              <a:rPr lang="en-US" sz="8353" b="true">
                <a:solidFill>
                  <a:srgbClr val="FFFFFF"/>
                </a:solidFill>
                <a:latin typeface="Poppins Bold"/>
                <a:ea typeface="Poppins Bold"/>
                <a:cs typeface="Poppins Bold"/>
                <a:sym typeface="Poppins Bold"/>
              </a:rPr>
              <a:t>Sources of Bias</a:t>
            </a:r>
          </a:p>
        </p:txBody>
      </p:sp>
      <p:grpSp>
        <p:nvGrpSpPr>
          <p:cNvPr name="Group 4" id="4"/>
          <p:cNvGrpSpPr/>
          <p:nvPr/>
        </p:nvGrpSpPr>
        <p:grpSpPr>
          <a:xfrm rot="7048923">
            <a:off x="-4317132" y="-3354575"/>
            <a:ext cx="9835844" cy="11289878"/>
            <a:chOff x="0" y="0"/>
            <a:chExt cx="13114459" cy="15053171"/>
          </a:xfrm>
        </p:grpSpPr>
        <p:sp>
          <p:nvSpPr>
            <p:cNvPr name="Freeform 5" id="5"/>
            <p:cNvSpPr/>
            <p:nvPr/>
          </p:nvSpPr>
          <p:spPr>
            <a:xfrm flipH="false" flipV="false" rot="0">
              <a:off x="0" y="3604762"/>
              <a:ext cx="11448409" cy="11448409"/>
            </a:xfrm>
            <a:custGeom>
              <a:avLst/>
              <a:gdLst/>
              <a:ahLst/>
              <a:cxnLst/>
              <a:rect r="r" b="b" t="t" l="l"/>
              <a:pathLst>
                <a:path h="11448409" w="11448409">
                  <a:moveTo>
                    <a:pt x="0" y="0"/>
                  </a:moveTo>
                  <a:lnTo>
                    <a:pt x="11448409" y="0"/>
                  </a:lnTo>
                  <a:lnTo>
                    <a:pt x="11448409" y="11448409"/>
                  </a:lnTo>
                  <a:lnTo>
                    <a:pt x="0" y="11448409"/>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5904935" y="0"/>
              <a:ext cx="7209524" cy="7209524"/>
            </a:xfrm>
            <a:custGeom>
              <a:avLst/>
              <a:gdLst/>
              <a:ahLst/>
              <a:cxnLst/>
              <a:rect r="r" b="b" t="t" l="l"/>
              <a:pathLst>
                <a:path h="7209524" w="7209524">
                  <a:moveTo>
                    <a:pt x="7209524" y="0"/>
                  </a:moveTo>
                  <a:lnTo>
                    <a:pt x="0" y="0"/>
                  </a:lnTo>
                  <a:lnTo>
                    <a:pt x="0" y="7209524"/>
                  </a:lnTo>
                  <a:lnTo>
                    <a:pt x="7209524" y="7209524"/>
                  </a:lnTo>
                  <a:lnTo>
                    <a:pt x="7209524"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15068738" y="1432308"/>
            <a:ext cx="1110469" cy="1110469"/>
          </a:xfrm>
          <a:custGeom>
            <a:avLst/>
            <a:gdLst/>
            <a:ahLst/>
            <a:cxnLst/>
            <a:rect r="r" b="b" t="t" l="l"/>
            <a:pathLst>
              <a:path h="1110469" w="1110469">
                <a:moveTo>
                  <a:pt x="0" y="0"/>
                </a:moveTo>
                <a:lnTo>
                  <a:pt x="1110468" y="0"/>
                </a:lnTo>
                <a:lnTo>
                  <a:pt x="1110468" y="1110468"/>
                </a:lnTo>
                <a:lnTo>
                  <a:pt x="0" y="11104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552431" y="1094441"/>
            <a:ext cx="675733" cy="675733"/>
          </a:xfrm>
          <a:custGeom>
            <a:avLst/>
            <a:gdLst/>
            <a:ahLst/>
            <a:cxnLst/>
            <a:rect r="r" b="b" t="t" l="l"/>
            <a:pathLst>
              <a:path h="675733" w="675733">
                <a:moveTo>
                  <a:pt x="0" y="0"/>
                </a:moveTo>
                <a:lnTo>
                  <a:pt x="675733" y="0"/>
                </a:lnTo>
                <a:lnTo>
                  <a:pt x="675733" y="675733"/>
                </a:lnTo>
                <a:lnTo>
                  <a:pt x="0" y="6757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0">
            <a:off x="14933636" y="7330584"/>
            <a:ext cx="2739648" cy="1927716"/>
          </a:xfrm>
          <a:custGeom>
            <a:avLst/>
            <a:gdLst/>
            <a:ahLst/>
            <a:cxnLst/>
            <a:rect r="r" b="b" t="t" l="l"/>
            <a:pathLst>
              <a:path h="1927716" w="2739648">
                <a:moveTo>
                  <a:pt x="2739648" y="0"/>
                </a:moveTo>
                <a:lnTo>
                  <a:pt x="0" y="0"/>
                </a:lnTo>
                <a:lnTo>
                  <a:pt x="0" y="1927716"/>
                </a:lnTo>
                <a:lnTo>
                  <a:pt x="2739648" y="1927716"/>
                </a:lnTo>
                <a:lnTo>
                  <a:pt x="273964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8FBFE"/>
        </a:solidFill>
      </p:bgPr>
    </p:bg>
    <p:spTree>
      <p:nvGrpSpPr>
        <p:cNvPr id="1" name=""/>
        <p:cNvGrpSpPr/>
        <p:nvPr/>
      </p:nvGrpSpPr>
      <p:grpSpPr>
        <a:xfrm>
          <a:off x="0" y="0"/>
          <a:ext cx="0" cy="0"/>
          <a:chOff x="0" y="0"/>
          <a:chExt cx="0" cy="0"/>
        </a:xfrm>
      </p:grpSpPr>
      <p:sp>
        <p:nvSpPr>
          <p:cNvPr name="Freeform 2" id="2"/>
          <p:cNvSpPr/>
          <p:nvPr/>
        </p:nvSpPr>
        <p:spPr>
          <a:xfrm flipH="false" flipV="false" rot="0">
            <a:off x="11786673" y="3275644"/>
            <a:ext cx="8586307" cy="8586307"/>
          </a:xfrm>
          <a:custGeom>
            <a:avLst/>
            <a:gdLst/>
            <a:ahLst/>
            <a:cxnLst/>
            <a:rect r="r" b="b" t="t" l="l"/>
            <a:pathLst>
              <a:path h="8586307" w="8586307">
                <a:moveTo>
                  <a:pt x="0" y="0"/>
                </a:moveTo>
                <a:lnTo>
                  <a:pt x="8586307" y="0"/>
                </a:lnTo>
                <a:lnTo>
                  <a:pt x="8586307" y="8586307"/>
                </a:lnTo>
                <a:lnTo>
                  <a:pt x="0" y="8586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6215375" y="572072"/>
            <a:ext cx="5407143" cy="5407143"/>
          </a:xfrm>
          <a:custGeom>
            <a:avLst/>
            <a:gdLst/>
            <a:ahLst/>
            <a:cxnLst/>
            <a:rect r="r" b="b" t="t" l="l"/>
            <a:pathLst>
              <a:path h="5407143" w="5407143">
                <a:moveTo>
                  <a:pt x="5407143" y="0"/>
                </a:moveTo>
                <a:lnTo>
                  <a:pt x="0" y="0"/>
                </a:lnTo>
                <a:lnTo>
                  <a:pt x="0" y="5407143"/>
                </a:lnTo>
                <a:lnTo>
                  <a:pt x="5407143" y="5407143"/>
                </a:lnTo>
                <a:lnTo>
                  <a:pt x="540714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414233" y="415432"/>
            <a:ext cx="13068891" cy="1067722"/>
          </a:xfrm>
          <a:prstGeom prst="rect">
            <a:avLst/>
          </a:prstGeom>
        </p:spPr>
        <p:txBody>
          <a:bodyPr anchor="t" rtlCol="false" tIns="0" lIns="0" bIns="0" rIns="0">
            <a:spAutoFit/>
          </a:bodyPr>
          <a:lstStyle/>
          <a:p>
            <a:pPr algn="r">
              <a:lnSpc>
                <a:spcPts val="7016"/>
              </a:lnSpc>
            </a:pPr>
            <a:r>
              <a:rPr lang="en-US" b="true" sz="8353" u="sng">
                <a:solidFill>
                  <a:srgbClr val="022D80"/>
                </a:solidFill>
                <a:latin typeface="Poppins Bold"/>
                <a:ea typeface="Poppins Bold"/>
                <a:cs typeface="Poppins Bold"/>
                <a:sym typeface="Poppins Bold"/>
              </a:rPr>
              <a:t>AI &amp; Ethical Impacts</a:t>
            </a:r>
          </a:p>
        </p:txBody>
      </p:sp>
      <p:sp>
        <p:nvSpPr>
          <p:cNvPr name="Freeform 5" id="5"/>
          <p:cNvSpPr/>
          <p:nvPr/>
        </p:nvSpPr>
        <p:spPr>
          <a:xfrm flipH="false" flipV="true" rot="0">
            <a:off x="-1021590" y="8468139"/>
            <a:ext cx="19940536" cy="2809287"/>
          </a:xfrm>
          <a:custGeom>
            <a:avLst/>
            <a:gdLst/>
            <a:ahLst/>
            <a:cxnLst/>
            <a:rect r="r" b="b" t="t" l="l"/>
            <a:pathLst>
              <a:path h="2809287" w="19940536">
                <a:moveTo>
                  <a:pt x="0" y="2809287"/>
                </a:moveTo>
                <a:lnTo>
                  <a:pt x="19940536" y="2809287"/>
                </a:lnTo>
                <a:lnTo>
                  <a:pt x="19940536" y="0"/>
                </a:lnTo>
                <a:lnTo>
                  <a:pt x="0" y="0"/>
                </a:lnTo>
                <a:lnTo>
                  <a:pt x="0" y="2809287"/>
                </a:lnTo>
                <a:close/>
              </a:path>
            </a:pathLst>
          </a:custGeom>
          <a:blipFill>
            <a:blip r:embed="rId6">
              <a:alphaModFix amt="41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384540" y="582365"/>
            <a:ext cx="533830" cy="533830"/>
          </a:xfrm>
          <a:custGeom>
            <a:avLst/>
            <a:gdLst/>
            <a:ahLst/>
            <a:cxnLst/>
            <a:rect r="r" b="b" t="t" l="l"/>
            <a:pathLst>
              <a:path h="533830" w="533830">
                <a:moveTo>
                  <a:pt x="0" y="0"/>
                </a:moveTo>
                <a:lnTo>
                  <a:pt x="533830" y="0"/>
                </a:lnTo>
                <a:lnTo>
                  <a:pt x="533830" y="533830"/>
                </a:lnTo>
                <a:lnTo>
                  <a:pt x="0" y="5338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7097788" y="419945"/>
            <a:ext cx="324842" cy="324842"/>
          </a:xfrm>
          <a:custGeom>
            <a:avLst/>
            <a:gdLst/>
            <a:ahLst/>
            <a:cxnLst/>
            <a:rect r="r" b="b" t="t" l="l"/>
            <a:pathLst>
              <a:path h="324842" w="324842">
                <a:moveTo>
                  <a:pt x="0" y="0"/>
                </a:moveTo>
                <a:lnTo>
                  <a:pt x="324842" y="0"/>
                </a:lnTo>
                <a:lnTo>
                  <a:pt x="324842" y="324841"/>
                </a:lnTo>
                <a:lnTo>
                  <a:pt x="0" y="3248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true" flipV="false" rot="486704">
            <a:off x="-672048" y="-472556"/>
            <a:ext cx="4998350" cy="2762725"/>
          </a:xfrm>
          <a:custGeom>
            <a:avLst/>
            <a:gdLst/>
            <a:ahLst/>
            <a:cxnLst/>
            <a:rect r="r" b="b" t="t" l="l"/>
            <a:pathLst>
              <a:path h="2762725" w="4998350">
                <a:moveTo>
                  <a:pt x="4998350" y="0"/>
                </a:moveTo>
                <a:lnTo>
                  <a:pt x="0" y="0"/>
                </a:lnTo>
                <a:lnTo>
                  <a:pt x="0" y="2762724"/>
                </a:lnTo>
                <a:lnTo>
                  <a:pt x="4998350" y="2762724"/>
                </a:lnTo>
                <a:lnTo>
                  <a:pt x="499835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9655019" y="3914506"/>
            <a:ext cx="9358956" cy="6959660"/>
          </a:xfrm>
          <a:custGeom>
            <a:avLst/>
            <a:gdLst/>
            <a:ahLst/>
            <a:cxnLst/>
            <a:rect r="r" b="b" t="t" l="l"/>
            <a:pathLst>
              <a:path h="6959660" w="9358956">
                <a:moveTo>
                  <a:pt x="0" y="0"/>
                </a:moveTo>
                <a:lnTo>
                  <a:pt x="9358956" y="0"/>
                </a:lnTo>
                <a:lnTo>
                  <a:pt x="9358956" y="6959660"/>
                </a:lnTo>
                <a:lnTo>
                  <a:pt x="0" y="695966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529292" y="1682045"/>
            <a:ext cx="8921192" cy="8190738"/>
          </a:xfrm>
          <a:prstGeom prst="rect">
            <a:avLst/>
          </a:prstGeom>
        </p:spPr>
        <p:txBody>
          <a:bodyPr anchor="t" rtlCol="false" tIns="0" lIns="0" bIns="0" rIns="0">
            <a:spAutoFit/>
          </a:bodyPr>
          <a:lstStyle/>
          <a:p>
            <a:pPr algn="l" marL="906780" indent="-453390" lvl="1">
              <a:lnSpc>
                <a:spcPts val="5208"/>
              </a:lnSpc>
              <a:buFont typeface="Arial"/>
              <a:buChar char="•"/>
            </a:pPr>
            <a:r>
              <a:rPr lang="en-US" b="true" sz="4200">
                <a:solidFill>
                  <a:srgbClr val="000000"/>
                </a:solidFill>
                <a:latin typeface="Poppins Bold"/>
                <a:ea typeface="Poppins Bold"/>
                <a:cs typeface="Poppins Bold"/>
                <a:sym typeface="Poppins Bold"/>
              </a:rPr>
              <a:t>Upside: </a:t>
            </a:r>
          </a:p>
          <a:p>
            <a:pPr algn="l" marL="1554480" indent="-518160" lvl="2">
              <a:lnSpc>
                <a:spcPts val="4464"/>
              </a:lnSpc>
              <a:buFont typeface="Arial"/>
              <a:buChar char="⚬"/>
            </a:pPr>
            <a:r>
              <a:rPr lang="en-US" b="true" sz="3600">
                <a:solidFill>
                  <a:srgbClr val="000000"/>
                </a:solidFill>
                <a:latin typeface="Poppins Bold"/>
                <a:ea typeface="Poppins Bold"/>
                <a:cs typeface="Poppins Bold"/>
                <a:sym typeface="Poppins Bold"/>
              </a:rPr>
              <a:t>helps agencies send the right help to the right kind of place on a fixed budget.</a:t>
            </a:r>
          </a:p>
          <a:p>
            <a:pPr algn="l">
              <a:lnSpc>
                <a:spcPts val="4464"/>
              </a:lnSpc>
            </a:pPr>
          </a:p>
          <a:p>
            <a:pPr algn="l" marL="906780" indent="-453390" lvl="1">
              <a:lnSpc>
                <a:spcPts val="5208"/>
              </a:lnSpc>
              <a:buFont typeface="Arial"/>
              <a:buChar char="•"/>
            </a:pPr>
            <a:r>
              <a:rPr lang="en-US" b="true" sz="4200">
                <a:solidFill>
                  <a:srgbClr val="000000"/>
                </a:solidFill>
                <a:latin typeface="Poppins Bold"/>
                <a:ea typeface="Poppins Bold"/>
                <a:cs typeface="Poppins Bold"/>
                <a:sym typeface="Poppins Bold"/>
              </a:rPr>
              <a:t>Allocation Harm:</a:t>
            </a:r>
          </a:p>
          <a:p>
            <a:pPr algn="l" marL="1554480" indent="-518160" lvl="2">
              <a:lnSpc>
                <a:spcPts val="4464"/>
              </a:lnSpc>
              <a:buFont typeface="Arial"/>
              <a:buChar char="⚬"/>
            </a:pPr>
            <a:r>
              <a:rPr lang="en-US" b="true" sz="3600">
                <a:solidFill>
                  <a:srgbClr val="000000"/>
                </a:solidFill>
                <a:latin typeface="Poppins Bold"/>
                <a:ea typeface="Poppins Bold"/>
                <a:cs typeface="Poppins Bold"/>
                <a:sym typeface="Poppins Bold"/>
              </a:rPr>
              <a:t>A</a:t>
            </a:r>
            <a:r>
              <a:rPr lang="en-US" b="true" sz="3600">
                <a:solidFill>
                  <a:srgbClr val="000000"/>
                </a:solidFill>
                <a:latin typeface="Poppins Bold"/>
                <a:ea typeface="Poppins Bold"/>
                <a:cs typeface="Poppins Bold"/>
                <a:sym typeface="Poppins Bold"/>
              </a:rPr>
              <a:t> "healthy" label could pull help from a county that still has a struggling neighborhood</a:t>
            </a:r>
          </a:p>
          <a:p>
            <a:pPr algn="l">
              <a:lnSpc>
                <a:spcPts val="4464"/>
              </a:lnSpc>
            </a:pPr>
          </a:p>
          <a:p>
            <a:pPr algn="l" marL="906780" indent="-453390" lvl="1">
              <a:lnSpc>
                <a:spcPts val="5208"/>
              </a:lnSpc>
              <a:buFont typeface="Arial"/>
              <a:buChar char="•"/>
            </a:pPr>
            <a:r>
              <a:rPr lang="en-US" b="true" sz="4200">
                <a:solidFill>
                  <a:srgbClr val="000000"/>
                </a:solidFill>
                <a:latin typeface="Poppins Bold"/>
                <a:ea typeface="Poppins Bold"/>
                <a:cs typeface="Poppins Bold"/>
                <a:sym typeface="Poppins Bold"/>
              </a:rPr>
              <a:t>No Ground Truth:  </a:t>
            </a:r>
          </a:p>
          <a:p>
            <a:pPr algn="l" marL="1554480" indent="-518160" lvl="2">
              <a:lnSpc>
                <a:spcPts val="4464"/>
              </a:lnSpc>
              <a:buFont typeface="Arial"/>
              <a:buChar char="⚬"/>
            </a:pPr>
            <a:r>
              <a:rPr lang="en-US" b="true" sz="3600">
                <a:solidFill>
                  <a:srgbClr val="000000"/>
                </a:solidFill>
                <a:latin typeface="Poppins Bold"/>
                <a:ea typeface="Poppins Bold"/>
                <a:cs typeface="Poppins Bold"/>
                <a:sym typeface="Poppins Bold"/>
              </a:rPr>
              <a:t>Advisory &gt; Autonomous. Need to keep humans &amp; communities in the loop</a:t>
            </a:r>
          </a:p>
        </p:txBody>
      </p:sp>
      <p:sp>
        <p:nvSpPr>
          <p:cNvPr name="Freeform 11" id="11"/>
          <p:cNvSpPr/>
          <p:nvPr/>
        </p:nvSpPr>
        <p:spPr>
          <a:xfrm flipH="false" flipV="false" rot="0">
            <a:off x="13694367" y="2770615"/>
            <a:ext cx="1280261" cy="1280261"/>
          </a:xfrm>
          <a:custGeom>
            <a:avLst/>
            <a:gdLst/>
            <a:ahLst/>
            <a:cxnLst/>
            <a:rect r="r" b="b" t="t" l="l"/>
            <a:pathLst>
              <a:path h="1280261" w="1280261">
                <a:moveTo>
                  <a:pt x="0" y="0"/>
                </a:moveTo>
                <a:lnTo>
                  <a:pt x="1280261" y="0"/>
                </a:lnTo>
                <a:lnTo>
                  <a:pt x="1280261" y="1280261"/>
                </a:lnTo>
                <a:lnTo>
                  <a:pt x="0" y="128026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09555" y="5618339"/>
            <a:ext cx="13068891" cy="1597612"/>
            <a:chOff x="0" y="0"/>
            <a:chExt cx="2689072" cy="328727"/>
          </a:xfrm>
        </p:grpSpPr>
        <p:sp>
          <p:nvSpPr>
            <p:cNvPr name="Freeform 3" id="3"/>
            <p:cNvSpPr/>
            <p:nvPr/>
          </p:nvSpPr>
          <p:spPr>
            <a:xfrm flipH="false" flipV="false" rot="0">
              <a:off x="0" y="0"/>
              <a:ext cx="2689072" cy="328727"/>
            </a:xfrm>
            <a:custGeom>
              <a:avLst/>
              <a:gdLst/>
              <a:ahLst/>
              <a:cxnLst/>
              <a:rect r="r" b="b" t="t" l="l"/>
              <a:pathLst>
                <a:path h="328727" w="2689072">
                  <a:moveTo>
                    <a:pt x="11570" y="0"/>
                  </a:moveTo>
                  <a:lnTo>
                    <a:pt x="2677502" y="0"/>
                  </a:lnTo>
                  <a:cubicBezTo>
                    <a:pt x="2683892" y="0"/>
                    <a:pt x="2689072" y="5180"/>
                    <a:pt x="2689072" y="11570"/>
                  </a:cubicBezTo>
                  <a:lnTo>
                    <a:pt x="2689072" y="317157"/>
                  </a:lnTo>
                  <a:cubicBezTo>
                    <a:pt x="2689072" y="323547"/>
                    <a:pt x="2683892" y="328727"/>
                    <a:pt x="2677502" y="328727"/>
                  </a:cubicBezTo>
                  <a:lnTo>
                    <a:pt x="11570" y="328727"/>
                  </a:lnTo>
                  <a:cubicBezTo>
                    <a:pt x="5180" y="328727"/>
                    <a:pt x="0" y="323547"/>
                    <a:pt x="0" y="317157"/>
                  </a:cubicBezTo>
                  <a:lnTo>
                    <a:pt x="0" y="11570"/>
                  </a:lnTo>
                  <a:cubicBezTo>
                    <a:pt x="0" y="5180"/>
                    <a:pt x="5180" y="0"/>
                    <a:pt x="11570" y="0"/>
                  </a:cubicBezTo>
                  <a:close/>
                </a:path>
              </a:pathLst>
            </a:custGeom>
            <a:solidFill>
              <a:srgbClr val="2C73B6"/>
            </a:solidFill>
          </p:spPr>
        </p:sp>
        <p:sp>
          <p:nvSpPr>
            <p:cNvPr name="TextBox 4" id="4"/>
            <p:cNvSpPr txBox="true"/>
            <p:nvPr/>
          </p:nvSpPr>
          <p:spPr>
            <a:xfrm>
              <a:off x="0" y="-47625"/>
              <a:ext cx="2689072" cy="376352"/>
            </a:xfrm>
            <a:prstGeom prst="rect">
              <a:avLst/>
            </a:prstGeom>
          </p:spPr>
          <p:txBody>
            <a:bodyPr anchor="ctr" rtlCol="false" tIns="50800" lIns="50800" bIns="50800" rIns="50800"/>
            <a:lstStyle/>
            <a:p>
              <a:pPr algn="ctr">
                <a:lnSpc>
                  <a:spcPts val="3495"/>
                </a:lnSpc>
              </a:pPr>
            </a:p>
          </p:txBody>
        </p:sp>
      </p:grpSp>
      <p:sp>
        <p:nvSpPr>
          <p:cNvPr name="TextBox 5" id="5"/>
          <p:cNvSpPr txBox="true"/>
          <p:nvPr/>
        </p:nvSpPr>
        <p:spPr>
          <a:xfrm rot="0">
            <a:off x="2178773" y="1775157"/>
            <a:ext cx="13930453" cy="1083520"/>
          </a:xfrm>
          <a:prstGeom prst="rect">
            <a:avLst/>
          </a:prstGeom>
        </p:spPr>
        <p:txBody>
          <a:bodyPr anchor="t" rtlCol="false" tIns="0" lIns="0" bIns="0" rIns="0">
            <a:spAutoFit/>
          </a:bodyPr>
          <a:lstStyle/>
          <a:p>
            <a:pPr algn="ctr">
              <a:lnSpc>
                <a:spcPts val="7267"/>
              </a:lnSpc>
            </a:pPr>
            <a:r>
              <a:rPr lang="en-US" sz="8353" b="true">
                <a:solidFill>
                  <a:srgbClr val="2C73B6"/>
                </a:solidFill>
                <a:latin typeface="Poppins Bold"/>
                <a:ea typeface="Poppins Bold"/>
                <a:cs typeface="Poppins Bold"/>
                <a:sym typeface="Poppins Bold"/>
              </a:rPr>
              <a:t>Mitigation Strategies</a:t>
            </a:r>
          </a:p>
        </p:txBody>
      </p:sp>
      <p:sp>
        <p:nvSpPr>
          <p:cNvPr name="TextBox 6" id="6"/>
          <p:cNvSpPr txBox="true"/>
          <p:nvPr/>
        </p:nvSpPr>
        <p:spPr>
          <a:xfrm rot="0">
            <a:off x="3610552" y="6069304"/>
            <a:ext cx="11066896" cy="648056"/>
          </a:xfrm>
          <a:prstGeom prst="rect">
            <a:avLst/>
          </a:prstGeom>
        </p:spPr>
        <p:txBody>
          <a:bodyPr anchor="t" rtlCol="false" tIns="0" lIns="0" bIns="0" rIns="0">
            <a:spAutoFit/>
          </a:bodyPr>
          <a:lstStyle/>
          <a:p>
            <a:pPr algn="ctr">
              <a:lnSpc>
                <a:spcPts val="2605"/>
              </a:lnSpc>
            </a:pPr>
            <a:r>
              <a:rPr lang="en-US" sz="1860" b="true">
                <a:solidFill>
                  <a:srgbClr val="FFFFFF"/>
                </a:solidFill>
                <a:latin typeface="Canva Sans Bold"/>
                <a:ea typeface="Canva Sans Bold"/>
                <a:cs typeface="Canva Sans Bold"/>
                <a:sym typeface="Canva Sans Bold"/>
              </a:rPr>
              <a:t>Aggr</a:t>
            </a:r>
            <a:r>
              <a:rPr lang="en-US" b="true" sz="1860">
                <a:solidFill>
                  <a:srgbClr val="FFFFFF"/>
                </a:solidFill>
                <a:latin typeface="Canva Sans Bold"/>
                <a:ea typeface="Canva Sans Bold"/>
                <a:cs typeface="Canva Sans Bold"/>
                <a:sym typeface="Canva Sans Bold"/>
              </a:rPr>
              <a:t>egation bias:</a:t>
            </a:r>
            <a:r>
              <a:rPr lang="en-US" sz="1860">
                <a:solidFill>
                  <a:srgbClr val="FFFFFF"/>
                </a:solidFill>
                <a:latin typeface="Canva Sans"/>
                <a:ea typeface="Canva Sans"/>
                <a:cs typeface="Canva Sans"/>
                <a:sym typeface="Canva Sans"/>
              </a:rPr>
              <a:t> To mitigate aggregation bias, we would state that types describe counties, not individuals, and never act on a single county number alone.</a:t>
            </a:r>
          </a:p>
        </p:txBody>
      </p:sp>
      <p:grpSp>
        <p:nvGrpSpPr>
          <p:cNvPr name="Group 7" id="7"/>
          <p:cNvGrpSpPr/>
          <p:nvPr/>
        </p:nvGrpSpPr>
        <p:grpSpPr>
          <a:xfrm rot="0">
            <a:off x="2609555" y="7545895"/>
            <a:ext cx="13068891" cy="1597612"/>
            <a:chOff x="0" y="0"/>
            <a:chExt cx="2689072" cy="328727"/>
          </a:xfrm>
        </p:grpSpPr>
        <p:sp>
          <p:nvSpPr>
            <p:cNvPr name="Freeform 8" id="8"/>
            <p:cNvSpPr/>
            <p:nvPr/>
          </p:nvSpPr>
          <p:spPr>
            <a:xfrm flipH="false" flipV="false" rot="0">
              <a:off x="0" y="0"/>
              <a:ext cx="2689072" cy="328727"/>
            </a:xfrm>
            <a:custGeom>
              <a:avLst/>
              <a:gdLst/>
              <a:ahLst/>
              <a:cxnLst/>
              <a:rect r="r" b="b" t="t" l="l"/>
              <a:pathLst>
                <a:path h="328727" w="2689072">
                  <a:moveTo>
                    <a:pt x="11570" y="0"/>
                  </a:moveTo>
                  <a:lnTo>
                    <a:pt x="2677502" y="0"/>
                  </a:lnTo>
                  <a:cubicBezTo>
                    <a:pt x="2683892" y="0"/>
                    <a:pt x="2689072" y="5180"/>
                    <a:pt x="2689072" y="11570"/>
                  </a:cubicBezTo>
                  <a:lnTo>
                    <a:pt x="2689072" y="317157"/>
                  </a:lnTo>
                  <a:cubicBezTo>
                    <a:pt x="2689072" y="323547"/>
                    <a:pt x="2683892" y="328727"/>
                    <a:pt x="2677502" y="328727"/>
                  </a:cubicBezTo>
                  <a:lnTo>
                    <a:pt x="11570" y="328727"/>
                  </a:lnTo>
                  <a:cubicBezTo>
                    <a:pt x="5180" y="328727"/>
                    <a:pt x="0" y="323547"/>
                    <a:pt x="0" y="317157"/>
                  </a:cubicBezTo>
                  <a:lnTo>
                    <a:pt x="0" y="11570"/>
                  </a:lnTo>
                  <a:cubicBezTo>
                    <a:pt x="0" y="5180"/>
                    <a:pt x="5180" y="0"/>
                    <a:pt x="11570" y="0"/>
                  </a:cubicBezTo>
                  <a:close/>
                </a:path>
              </a:pathLst>
            </a:custGeom>
            <a:solidFill>
              <a:srgbClr val="2C73B6"/>
            </a:solidFill>
          </p:spPr>
        </p:sp>
        <p:sp>
          <p:nvSpPr>
            <p:cNvPr name="TextBox 9" id="9"/>
            <p:cNvSpPr txBox="true"/>
            <p:nvPr/>
          </p:nvSpPr>
          <p:spPr>
            <a:xfrm>
              <a:off x="0" y="-47625"/>
              <a:ext cx="2689072" cy="376352"/>
            </a:xfrm>
            <a:prstGeom prst="rect">
              <a:avLst/>
            </a:prstGeom>
          </p:spPr>
          <p:txBody>
            <a:bodyPr anchor="ctr" rtlCol="false" tIns="50800" lIns="50800" bIns="50800" rIns="50800"/>
            <a:lstStyle/>
            <a:p>
              <a:pPr algn="ctr">
                <a:lnSpc>
                  <a:spcPts val="3495"/>
                </a:lnSpc>
              </a:pPr>
            </a:p>
          </p:txBody>
        </p:sp>
      </p:grpSp>
      <p:sp>
        <p:nvSpPr>
          <p:cNvPr name="TextBox 10" id="10"/>
          <p:cNvSpPr txBox="true"/>
          <p:nvPr/>
        </p:nvSpPr>
        <p:spPr>
          <a:xfrm rot="0">
            <a:off x="3610552" y="7996861"/>
            <a:ext cx="11066896" cy="648056"/>
          </a:xfrm>
          <a:prstGeom prst="rect">
            <a:avLst/>
          </a:prstGeom>
        </p:spPr>
        <p:txBody>
          <a:bodyPr anchor="t" rtlCol="false" tIns="0" lIns="0" bIns="0" rIns="0">
            <a:spAutoFit/>
          </a:bodyPr>
          <a:lstStyle/>
          <a:p>
            <a:pPr algn="ctr">
              <a:lnSpc>
                <a:spcPts val="2605"/>
              </a:lnSpc>
            </a:pPr>
            <a:r>
              <a:rPr lang="en-US" sz="1860" b="true">
                <a:solidFill>
                  <a:srgbClr val="FFFFFF"/>
                </a:solidFill>
                <a:latin typeface="Canva Sans Bold"/>
                <a:ea typeface="Canva Sans Bold"/>
                <a:cs typeface="Canva Sans Bold"/>
                <a:sym typeface="Canva Sans Bold"/>
              </a:rPr>
              <a:t>S</a:t>
            </a:r>
            <a:r>
              <a:rPr lang="en-US" b="true" sz="1860">
                <a:solidFill>
                  <a:srgbClr val="FFFFFF"/>
                </a:solidFill>
                <a:latin typeface="Canva Sans Bold"/>
                <a:ea typeface="Canva Sans Bold"/>
                <a:cs typeface="Canva Sans Bold"/>
                <a:sym typeface="Canva Sans Bold"/>
              </a:rPr>
              <a:t>ampling bias:</a:t>
            </a:r>
            <a:r>
              <a:rPr lang="en-US" sz="1860">
                <a:solidFill>
                  <a:srgbClr val="FFFFFF"/>
                </a:solidFill>
                <a:latin typeface="Canva Sans"/>
                <a:ea typeface="Canva Sans"/>
                <a:cs typeface="Canva Sans"/>
                <a:sym typeface="Canva Sans"/>
              </a:rPr>
              <a:t> To mitigate sampling bias, we would treat results as approximate and note which groups the survey underrepresents.</a:t>
            </a:r>
          </a:p>
        </p:txBody>
      </p:sp>
      <p:sp>
        <p:nvSpPr>
          <p:cNvPr name="Freeform 11" id="11"/>
          <p:cNvSpPr/>
          <p:nvPr/>
        </p:nvSpPr>
        <p:spPr>
          <a:xfrm flipH="false" flipV="false" rot="0">
            <a:off x="-1034833" y="49390"/>
            <a:ext cx="19940536" cy="2809287"/>
          </a:xfrm>
          <a:custGeom>
            <a:avLst/>
            <a:gdLst/>
            <a:ahLst/>
            <a:cxnLst/>
            <a:rect r="r" b="b" t="t" l="l"/>
            <a:pathLst>
              <a:path h="2809287" w="19940536">
                <a:moveTo>
                  <a:pt x="0" y="0"/>
                </a:moveTo>
                <a:lnTo>
                  <a:pt x="19940536" y="0"/>
                </a:lnTo>
                <a:lnTo>
                  <a:pt x="19940536" y="2809287"/>
                </a:lnTo>
                <a:lnTo>
                  <a:pt x="0" y="2809287"/>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2609555" y="3687352"/>
            <a:ext cx="13068891" cy="1597612"/>
            <a:chOff x="0" y="0"/>
            <a:chExt cx="2689072" cy="328727"/>
          </a:xfrm>
        </p:grpSpPr>
        <p:sp>
          <p:nvSpPr>
            <p:cNvPr name="Freeform 13" id="13"/>
            <p:cNvSpPr/>
            <p:nvPr/>
          </p:nvSpPr>
          <p:spPr>
            <a:xfrm flipH="false" flipV="false" rot="0">
              <a:off x="0" y="0"/>
              <a:ext cx="2689072" cy="328727"/>
            </a:xfrm>
            <a:custGeom>
              <a:avLst/>
              <a:gdLst/>
              <a:ahLst/>
              <a:cxnLst/>
              <a:rect r="r" b="b" t="t" l="l"/>
              <a:pathLst>
                <a:path h="328727" w="2689072">
                  <a:moveTo>
                    <a:pt x="11570" y="0"/>
                  </a:moveTo>
                  <a:lnTo>
                    <a:pt x="2677502" y="0"/>
                  </a:lnTo>
                  <a:cubicBezTo>
                    <a:pt x="2683892" y="0"/>
                    <a:pt x="2689072" y="5180"/>
                    <a:pt x="2689072" y="11570"/>
                  </a:cubicBezTo>
                  <a:lnTo>
                    <a:pt x="2689072" y="317157"/>
                  </a:lnTo>
                  <a:cubicBezTo>
                    <a:pt x="2689072" y="323547"/>
                    <a:pt x="2683892" y="328727"/>
                    <a:pt x="2677502" y="328727"/>
                  </a:cubicBezTo>
                  <a:lnTo>
                    <a:pt x="11570" y="328727"/>
                  </a:lnTo>
                  <a:cubicBezTo>
                    <a:pt x="5180" y="328727"/>
                    <a:pt x="0" y="323547"/>
                    <a:pt x="0" y="317157"/>
                  </a:cubicBezTo>
                  <a:lnTo>
                    <a:pt x="0" y="11570"/>
                  </a:lnTo>
                  <a:cubicBezTo>
                    <a:pt x="0" y="5180"/>
                    <a:pt x="5180" y="0"/>
                    <a:pt x="11570" y="0"/>
                  </a:cubicBezTo>
                  <a:close/>
                </a:path>
              </a:pathLst>
            </a:custGeom>
            <a:solidFill>
              <a:srgbClr val="2C73B6"/>
            </a:solidFill>
          </p:spPr>
        </p:sp>
        <p:sp>
          <p:nvSpPr>
            <p:cNvPr name="TextBox 14" id="14"/>
            <p:cNvSpPr txBox="true"/>
            <p:nvPr/>
          </p:nvSpPr>
          <p:spPr>
            <a:xfrm>
              <a:off x="0" y="-47625"/>
              <a:ext cx="2689072" cy="376352"/>
            </a:xfrm>
            <a:prstGeom prst="rect">
              <a:avLst/>
            </a:prstGeom>
          </p:spPr>
          <p:txBody>
            <a:bodyPr anchor="ctr" rtlCol="false" tIns="50800" lIns="50800" bIns="50800" rIns="50800"/>
            <a:lstStyle/>
            <a:p>
              <a:pPr algn="ctr">
                <a:lnSpc>
                  <a:spcPts val="3495"/>
                </a:lnSpc>
              </a:pPr>
            </a:p>
          </p:txBody>
        </p:sp>
      </p:grpSp>
      <p:sp>
        <p:nvSpPr>
          <p:cNvPr name="TextBox 15" id="15"/>
          <p:cNvSpPr txBox="true"/>
          <p:nvPr/>
        </p:nvSpPr>
        <p:spPr>
          <a:xfrm rot="0">
            <a:off x="3193422" y="4138317"/>
            <a:ext cx="11484026" cy="648056"/>
          </a:xfrm>
          <a:prstGeom prst="rect">
            <a:avLst/>
          </a:prstGeom>
        </p:spPr>
        <p:txBody>
          <a:bodyPr anchor="t" rtlCol="false" tIns="0" lIns="0" bIns="0" rIns="0">
            <a:spAutoFit/>
          </a:bodyPr>
          <a:lstStyle/>
          <a:p>
            <a:pPr algn="ctr">
              <a:lnSpc>
                <a:spcPts val="2605"/>
              </a:lnSpc>
            </a:pPr>
            <a:r>
              <a:rPr lang="en-US" sz="1860" b="true">
                <a:solidFill>
                  <a:srgbClr val="FFFFFF"/>
                </a:solidFill>
                <a:latin typeface="Canva Sans Bold"/>
                <a:ea typeface="Canva Sans Bold"/>
                <a:cs typeface="Canva Sans Bold"/>
                <a:sym typeface="Canva Sans Bold"/>
              </a:rPr>
              <a:t>Mod</a:t>
            </a:r>
            <a:r>
              <a:rPr lang="en-US" b="true" sz="1860">
                <a:solidFill>
                  <a:srgbClr val="FFFFFF"/>
                </a:solidFill>
                <a:latin typeface="Canva Sans Bold"/>
                <a:ea typeface="Canva Sans Bold"/>
                <a:cs typeface="Canva Sans Bold"/>
                <a:sym typeface="Canva Sans Bold"/>
              </a:rPr>
              <a:t>el bias</a:t>
            </a:r>
            <a:r>
              <a:rPr lang="en-US" sz="1860">
                <a:solidFill>
                  <a:srgbClr val="FFFFFF"/>
                </a:solidFill>
                <a:latin typeface="Canva Sans"/>
                <a:ea typeface="Canva Sans"/>
                <a:cs typeface="Canva Sans"/>
                <a:sym typeface="Canva Sans"/>
              </a:rPr>
              <a:t>: To mitigate model bias, we plan to use the confidence limit columns to flag shaky estimates and report them.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56A2"/>
        </a:solidFill>
      </p:bgPr>
    </p:bg>
    <p:spTree>
      <p:nvGrpSpPr>
        <p:cNvPr id="1" name=""/>
        <p:cNvGrpSpPr/>
        <p:nvPr/>
      </p:nvGrpSpPr>
      <p:grpSpPr>
        <a:xfrm>
          <a:off x="0" y="0"/>
          <a:ext cx="0" cy="0"/>
          <a:chOff x="0" y="0"/>
          <a:chExt cx="0" cy="0"/>
        </a:xfrm>
      </p:grpSpPr>
      <p:grpSp>
        <p:nvGrpSpPr>
          <p:cNvPr name="Group 2" id="2"/>
          <p:cNvGrpSpPr/>
          <p:nvPr/>
        </p:nvGrpSpPr>
        <p:grpSpPr>
          <a:xfrm rot="0">
            <a:off x="1388423" y="8468139"/>
            <a:ext cx="2200552" cy="581420"/>
            <a:chOff x="0" y="0"/>
            <a:chExt cx="2934069" cy="775226"/>
          </a:xfrm>
        </p:grpSpPr>
        <p:grpSp>
          <p:nvGrpSpPr>
            <p:cNvPr name="Group 3" id="3"/>
            <p:cNvGrpSpPr/>
            <p:nvPr/>
          </p:nvGrpSpPr>
          <p:grpSpPr>
            <a:xfrm rot="0">
              <a:off x="0" y="0"/>
              <a:ext cx="2934069" cy="775226"/>
              <a:chOff x="0" y="0"/>
              <a:chExt cx="593195" cy="156731"/>
            </a:xfrm>
          </p:grpSpPr>
          <p:sp>
            <p:nvSpPr>
              <p:cNvPr name="Freeform 4" id="4"/>
              <p:cNvSpPr/>
              <p:nvPr/>
            </p:nvSpPr>
            <p:spPr>
              <a:xfrm flipH="false" flipV="false" rot="0">
                <a:off x="0" y="0"/>
                <a:ext cx="593195" cy="156731"/>
              </a:xfrm>
              <a:custGeom>
                <a:avLst/>
                <a:gdLst/>
                <a:ahLst/>
                <a:cxnLst/>
                <a:rect r="r" b="b" t="t" l="l"/>
                <a:pathLst>
                  <a:path h="156731" w="593195">
                    <a:moveTo>
                      <a:pt x="68714" y="0"/>
                    </a:moveTo>
                    <a:lnTo>
                      <a:pt x="524481" y="0"/>
                    </a:lnTo>
                    <a:cubicBezTo>
                      <a:pt x="562431" y="0"/>
                      <a:pt x="593195" y="30764"/>
                      <a:pt x="593195" y="68714"/>
                    </a:cubicBezTo>
                    <a:lnTo>
                      <a:pt x="593195" y="88017"/>
                    </a:lnTo>
                    <a:cubicBezTo>
                      <a:pt x="593195" y="125967"/>
                      <a:pt x="562431" y="156731"/>
                      <a:pt x="524481" y="156731"/>
                    </a:cubicBezTo>
                    <a:lnTo>
                      <a:pt x="68714" y="156731"/>
                    </a:lnTo>
                    <a:cubicBezTo>
                      <a:pt x="30764" y="156731"/>
                      <a:pt x="0" y="125967"/>
                      <a:pt x="0" y="88017"/>
                    </a:cubicBezTo>
                    <a:lnTo>
                      <a:pt x="0" y="68714"/>
                    </a:lnTo>
                    <a:cubicBezTo>
                      <a:pt x="0" y="30764"/>
                      <a:pt x="30764" y="0"/>
                      <a:pt x="68714" y="0"/>
                    </a:cubicBezTo>
                    <a:close/>
                  </a:path>
                </a:pathLst>
              </a:custGeom>
              <a:solidFill>
                <a:srgbClr val="FFFFFF"/>
              </a:solidFill>
              <a:ln w="19050" cap="rnd">
                <a:solidFill>
                  <a:srgbClr val="FFFFFF"/>
                </a:solidFill>
                <a:prstDash val="solid"/>
                <a:round/>
              </a:ln>
            </p:spPr>
          </p:sp>
          <p:sp>
            <p:nvSpPr>
              <p:cNvPr name="TextBox 5" id="5"/>
              <p:cNvSpPr txBox="true"/>
              <p:nvPr/>
            </p:nvSpPr>
            <p:spPr>
              <a:xfrm>
                <a:off x="0" y="-38100"/>
                <a:ext cx="593195" cy="194831"/>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1910" y="155600"/>
              <a:ext cx="2350249" cy="416400"/>
            </a:xfrm>
            <a:prstGeom prst="rect">
              <a:avLst/>
            </a:prstGeom>
          </p:spPr>
          <p:txBody>
            <a:bodyPr anchor="t" rtlCol="false" tIns="0" lIns="0" bIns="0" rIns="0">
              <a:spAutoFit/>
            </a:bodyPr>
            <a:lstStyle/>
            <a:p>
              <a:pPr algn="ctr">
                <a:lnSpc>
                  <a:spcPts val="2605"/>
                </a:lnSpc>
              </a:pPr>
              <a:r>
                <a:rPr lang="en-US" sz="1860">
                  <a:solidFill>
                    <a:srgbClr val="000000"/>
                  </a:solidFill>
                  <a:latin typeface="Canva Sans"/>
                  <a:ea typeface="Canva Sans"/>
                  <a:cs typeface="Canva Sans"/>
                  <a:sym typeface="Canva Sans"/>
                </a:rPr>
                <a:t>Group</a:t>
              </a:r>
            </a:p>
          </p:txBody>
        </p:sp>
      </p:grpSp>
      <p:grpSp>
        <p:nvGrpSpPr>
          <p:cNvPr name="Group 7" id="7"/>
          <p:cNvGrpSpPr/>
          <p:nvPr/>
        </p:nvGrpSpPr>
        <p:grpSpPr>
          <a:xfrm rot="0">
            <a:off x="5046291" y="8468139"/>
            <a:ext cx="2200552" cy="581420"/>
            <a:chOff x="0" y="0"/>
            <a:chExt cx="2934069" cy="775226"/>
          </a:xfrm>
        </p:grpSpPr>
        <p:grpSp>
          <p:nvGrpSpPr>
            <p:cNvPr name="Group 8" id="8"/>
            <p:cNvGrpSpPr/>
            <p:nvPr/>
          </p:nvGrpSpPr>
          <p:grpSpPr>
            <a:xfrm rot="0">
              <a:off x="0" y="0"/>
              <a:ext cx="2934069" cy="775226"/>
              <a:chOff x="0" y="0"/>
              <a:chExt cx="593195" cy="156731"/>
            </a:xfrm>
          </p:grpSpPr>
          <p:sp>
            <p:nvSpPr>
              <p:cNvPr name="Freeform 9" id="9"/>
              <p:cNvSpPr/>
              <p:nvPr/>
            </p:nvSpPr>
            <p:spPr>
              <a:xfrm flipH="false" flipV="false" rot="0">
                <a:off x="0" y="0"/>
                <a:ext cx="593195" cy="156731"/>
              </a:xfrm>
              <a:custGeom>
                <a:avLst/>
                <a:gdLst/>
                <a:ahLst/>
                <a:cxnLst/>
                <a:rect r="r" b="b" t="t" l="l"/>
                <a:pathLst>
                  <a:path h="156731" w="593195">
                    <a:moveTo>
                      <a:pt x="68714" y="0"/>
                    </a:moveTo>
                    <a:lnTo>
                      <a:pt x="524481" y="0"/>
                    </a:lnTo>
                    <a:cubicBezTo>
                      <a:pt x="562431" y="0"/>
                      <a:pt x="593195" y="30764"/>
                      <a:pt x="593195" y="68714"/>
                    </a:cubicBezTo>
                    <a:lnTo>
                      <a:pt x="593195" y="88017"/>
                    </a:lnTo>
                    <a:cubicBezTo>
                      <a:pt x="593195" y="125967"/>
                      <a:pt x="562431" y="156731"/>
                      <a:pt x="524481" y="156731"/>
                    </a:cubicBezTo>
                    <a:lnTo>
                      <a:pt x="68714" y="156731"/>
                    </a:lnTo>
                    <a:cubicBezTo>
                      <a:pt x="30764" y="156731"/>
                      <a:pt x="0" y="125967"/>
                      <a:pt x="0" y="88017"/>
                    </a:cubicBezTo>
                    <a:lnTo>
                      <a:pt x="0" y="68714"/>
                    </a:lnTo>
                    <a:cubicBezTo>
                      <a:pt x="0" y="30764"/>
                      <a:pt x="30764" y="0"/>
                      <a:pt x="68714" y="0"/>
                    </a:cubicBezTo>
                    <a:close/>
                  </a:path>
                </a:pathLst>
              </a:custGeom>
              <a:solidFill>
                <a:srgbClr val="FFFFFF"/>
              </a:solidFill>
              <a:ln w="19050" cap="rnd">
                <a:solidFill>
                  <a:srgbClr val="FFFFFF"/>
                </a:solidFill>
                <a:prstDash val="solid"/>
                <a:round/>
              </a:ln>
            </p:spPr>
          </p:sp>
          <p:sp>
            <p:nvSpPr>
              <p:cNvPr name="TextBox 10" id="10"/>
              <p:cNvSpPr txBox="true"/>
              <p:nvPr/>
            </p:nvSpPr>
            <p:spPr>
              <a:xfrm>
                <a:off x="0" y="-38100"/>
                <a:ext cx="593195" cy="194831"/>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0" y="155600"/>
              <a:ext cx="2934069" cy="416400"/>
            </a:xfrm>
            <a:prstGeom prst="rect">
              <a:avLst/>
            </a:prstGeom>
          </p:spPr>
          <p:txBody>
            <a:bodyPr anchor="t" rtlCol="false" tIns="0" lIns="0" bIns="0" rIns="0">
              <a:spAutoFit/>
            </a:bodyPr>
            <a:lstStyle/>
            <a:p>
              <a:pPr algn="ctr">
                <a:lnSpc>
                  <a:spcPts val="2605"/>
                </a:lnSpc>
              </a:pPr>
              <a:r>
                <a:rPr lang="en-US" sz="1860">
                  <a:solidFill>
                    <a:srgbClr val="000000"/>
                  </a:solidFill>
                  <a:latin typeface="Canva Sans"/>
                  <a:ea typeface="Canva Sans"/>
                  <a:cs typeface="Canva Sans"/>
                  <a:sym typeface="Canva Sans"/>
                </a:rPr>
                <a:t>Map</a:t>
              </a:r>
            </a:p>
          </p:txBody>
        </p:sp>
      </p:grpSp>
      <p:grpSp>
        <p:nvGrpSpPr>
          <p:cNvPr name="Group 12" id="12"/>
          <p:cNvGrpSpPr/>
          <p:nvPr/>
        </p:nvGrpSpPr>
        <p:grpSpPr>
          <a:xfrm rot="0">
            <a:off x="9144000" y="8468139"/>
            <a:ext cx="2200552" cy="581420"/>
            <a:chOff x="0" y="0"/>
            <a:chExt cx="2934069" cy="775226"/>
          </a:xfrm>
        </p:grpSpPr>
        <p:grpSp>
          <p:nvGrpSpPr>
            <p:cNvPr name="Group 13" id="13"/>
            <p:cNvGrpSpPr/>
            <p:nvPr/>
          </p:nvGrpSpPr>
          <p:grpSpPr>
            <a:xfrm rot="0">
              <a:off x="0" y="0"/>
              <a:ext cx="2934069" cy="775226"/>
              <a:chOff x="0" y="0"/>
              <a:chExt cx="593195" cy="156731"/>
            </a:xfrm>
          </p:grpSpPr>
          <p:sp>
            <p:nvSpPr>
              <p:cNvPr name="Freeform 14" id="14"/>
              <p:cNvSpPr/>
              <p:nvPr/>
            </p:nvSpPr>
            <p:spPr>
              <a:xfrm flipH="false" flipV="false" rot="0">
                <a:off x="0" y="0"/>
                <a:ext cx="593195" cy="156731"/>
              </a:xfrm>
              <a:custGeom>
                <a:avLst/>
                <a:gdLst/>
                <a:ahLst/>
                <a:cxnLst/>
                <a:rect r="r" b="b" t="t" l="l"/>
                <a:pathLst>
                  <a:path h="156731" w="593195">
                    <a:moveTo>
                      <a:pt x="68714" y="0"/>
                    </a:moveTo>
                    <a:lnTo>
                      <a:pt x="524481" y="0"/>
                    </a:lnTo>
                    <a:cubicBezTo>
                      <a:pt x="562431" y="0"/>
                      <a:pt x="593195" y="30764"/>
                      <a:pt x="593195" y="68714"/>
                    </a:cubicBezTo>
                    <a:lnTo>
                      <a:pt x="593195" y="88017"/>
                    </a:lnTo>
                    <a:cubicBezTo>
                      <a:pt x="593195" y="125967"/>
                      <a:pt x="562431" y="156731"/>
                      <a:pt x="524481" y="156731"/>
                    </a:cubicBezTo>
                    <a:lnTo>
                      <a:pt x="68714" y="156731"/>
                    </a:lnTo>
                    <a:cubicBezTo>
                      <a:pt x="30764" y="156731"/>
                      <a:pt x="0" y="125967"/>
                      <a:pt x="0" y="88017"/>
                    </a:cubicBezTo>
                    <a:lnTo>
                      <a:pt x="0" y="68714"/>
                    </a:lnTo>
                    <a:cubicBezTo>
                      <a:pt x="0" y="30764"/>
                      <a:pt x="30764" y="0"/>
                      <a:pt x="68714" y="0"/>
                    </a:cubicBezTo>
                    <a:close/>
                  </a:path>
                </a:pathLst>
              </a:custGeom>
              <a:solidFill>
                <a:srgbClr val="FFFFFF"/>
              </a:solidFill>
              <a:ln w="19050" cap="rnd">
                <a:solidFill>
                  <a:srgbClr val="FFFFFF"/>
                </a:solidFill>
                <a:prstDash val="solid"/>
                <a:round/>
              </a:ln>
            </p:spPr>
          </p:sp>
          <p:sp>
            <p:nvSpPr>
              <p:cNvPr name="TextBox 15" id="15"/>
              <p:cNvSpPr txBox="true"/>
              <p:nvPr/>
            </p:nvSpPr>
            <p:spPr>
              <a:xfrm>
                <a:off x="0" y="-38100"/>
                <a:ext cx="593195" cy="194831"/>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0" y="155600"/>
              <a:ext cx="2934069" cy="416400"/>
            </a:xfrm>
            <a:prstGeom prst="rect">
              <a:avLst/>
            </a:prstGeom>
          </p:spPr>
          <p:txBody>
            <a:bodyPr anchor="t" rtlCol="false" tIns="0" lIns="0" bIns="0" rIns="0">
              <a:spAutoFit/>
            </a:bodyPr>
            <a:lstStyle/>
            <a:p>
              <a:pPr algn="ctr">
                <a:lnSpc>
                  <a:spcPts val="2605"/>
                </a:lnSpc>
              </a:pPr>
              <a:r>
                <a:rPr lang="en-US" sz="1860">
                  <a:solidFill>
                    <a:srgbClr val="000000"/>
                  </a:solidFill>
                  <a:latin typeface="Canva Sans"/>
                  <a:ea typeface="Canva Sans"/>
                  <a:cs typeface="Canva Sans"/>
                  <a:sym typeface="Canva Sans"/>
                </a:rPr>
                <a:t>Match</a:t>
              </a:r>
            </a:p>
          </p:txBody>
        </p:sp>
      </p:grpSp>
      <p:sp>
        <p:nvSpPr>
          <p:cNvPr name="Freeform 17" id="17"/>
          <p:cNvSpPr/>
          <p:nvPr/>
        </p:nvSpPr>
        <p:spPr>
          <a:xfrm flipH="false" flipV="true" rot="0">
            <a:off x="-1021590" y="8468139"/>
            <a:ext cx="19940536" cy="2809287"/>
          </a:xfrm>
          <a:custGeom>
            <a:avLst/>
            <a:gdLst/>
            <a:ahLst/>
            <a:cxnLst/>
            <a:rect r="r" b="b" t="t" l="l"/>
            <a:pathLst>
              <a:path h="2809287" w="19940536">
                <a:moveTo>
                  <a:pt x="0" y="2809287"/>
                </a:moveTo>
                <a:lnTo>
                  <a:pt x="19940536" y="2809287"/>
                </a:lnTo>
                <a:lnTo>
                  <a:pt x="19940536" y="0"/>
                </a:lnTo>
                <a:lnTo>
                  <a:pt x="0" y="0"/>
                </a:lnTo>
                <a:lnTo>
                  <a:pt x="0" y="2809287"/>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1775105" y="3618209"/>
            <a:ext cx="7679421" cy="6995254"/>
          </a:xfrm>
          <a:custGeom>
            <a:avLst/>
            <a:gdLst/>
            <a:ahLst/>
            <a:cxnLst/>
            <a:rect r="r" b="b" t="t" l="l"/>
            <a:pathLst>
              <a:path h="6995254" w="7679421">
                <a:moveTo>
                  <a:pt x="0" y="0"/>
                </a:moveTo>
                <a:lnTo>
                  <a:pt x="7679421" y="0"/>
                </a:lnTo>
                <a:lnTo>
                  <a:pt x="7679421" y="6995254"/>
                </a:lnTo>
                <a:lnTo>
                  <a:pt x="0" y="69952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388423" y="5000016"/>
            <a:ext cx="8866597" cy="1295756"/>
          </a:xfrm>
          <a:prstGeom prst="rect">
            <a:avLst/>
          </a:prstGeom>
        </p:spPr>
        <p:txBody>
          <a:bodyPr anchor="t" rtlCol="false" tIns="0" lIns="0" bIns="0" rIns="0">
            <a:spAutoFit/>
          </a:bodyPr>
          <a:lstStyle/>
          <a:p>
            <a:pPr algn="l">
              <a:lnSpc>
                <a:spcPts val="2605"/>
              </a:lnSpc>
            </a:pPr>
            <a:r>
              <a:rPr lang="en-US" sz="1860">
                <a:solidFill>
                  <a:srgbClr val="FFFFFF"/>
                </a:solidFill>
                <a:latin typeface="Canva Sans"/>
                <a:ea typeface="Canva Sans"/>
                <a:cs typeface="Canva Sans"/>
                <a:sym typeface="Canva Sans"/>
              </a:rPr>
              <a:t>Most public-health work</a:t>
            </a:r>
            <a:r>
              <a:rPr lang="en-US" sz="1860">
                <a:solidFill>
                  <a:srgbClr val="FFFFFF"/>
                </a:solidFill>
                <a:latin typeface="Canva Sans"/>
                <a:ea typeface="Canva Sans"/>
                <a:cs typeface="Canva Sans"/>
                <a:sym typeface="Canva Sans"/>
              </a:rPr>
              <a:t> ranks counties from healthiest to worst. That tells you who's struggling, but not what kind of trouble they're in. We cluster instead. We group counties with similar health profiles, then match the right kind of help to each group.</a:t>
            </a:r>
          </a:p>
        </p:txBody>
      </p:sp>
      <p:sp>
        <p:nvSpPr>
          <p:cNvPr name="TextBox 20" id="20"/>
          <p:cNvSpPr txBox="true"/>
          <p:nvPr/>
        </p:nvSpPr>
        <p:spPr>
          <a:xfrm rot="0">
            <a:off x="1388423" y="3536049"/>
            <a:ext cx="7315737" cy="673392"/>
          </a:xfrm>
          <a:prstGeom prst="rect">
            <a:avLst/>
          </a:prstGeom>
        </p:spPr>
        <p:txBody>
          <a:bodyPr anchor="t" rtlCol="false" tIns="0" lIns="0" bIns="0" rIns="0">
            <a:spAutoFit/>
          </a:bodyPr>
          <a:lstStyle/>
          <a:p>
            <a:pPr algn="l">
              <a:lnSpc>
                <a:spcPts val="4964"/>
              </a:lnSpc>
            </a:pPr>
            <a:r>
              <a:rPr lang="en-US" sz="4243" b="true">
                <a:solidFill>
                  <a:srgbClr val="FFFFFF"/>
                </a:solidFill>
                <a:latin typeface="Poppins Bold"/>
                <a:ea typeface="Poppins Bold"/>
                <a:cs typeface="Poppins Bold"/>
                <a:sym typeface="Poppins Bold"/>
              </a:rPr>
              <a:t>Grouping Counties</a:t>
            </a:r>
          </a:p>
        </p:txBody>
      </p:sp>
      <p:sp>
        <p:nvSpPr>
          <p:cNvPr name="TextBox 21" id="21"/>
          <p:cNvSpPr txBox="true"/>
          <p:nvPr/>
        </p:nvSpPr>
        <p:spPr>
          <a:xfrm rot="0">
            <a:off x="1388423" y="1104900"/>
            <a:ext cx="9260787" cy="1193254"/>
          </a:xfrm>
          <a:prstGeom prst="rect">
            <a:avLst/>
          </a:prstGeom>
        </p:spPr>
        <p:txBody>
          <a:bodyPr anchor="t" rtlCol="false" tIns="0" lIns="0" bIns="0" rIns="0">
            <a:spAutoFit/>
          </a:bodyPr>
          <a:lstStyle/>
          <a:p>
            <a:pPr algn="l">
              <a:lnSpc>
                <a:spcPts val="8353"/>
              </a:lnSpc>
            </a:pPr>
            <a:r>
              <a:rPr lang="en-US" sz="8353" b="true">
                <a:solidFill>
                  <a:srgbClr val="FFFFFF"/>
                </a:solidFill>
                <a:latin typeface="Poppins Bold"/>
                <a:ea typeface="Poppins Bold"/>
                <a:cs typeface="Poppins Bold"/>
                <a:sym typeface="Poppins Bold"/>
              </a:rPr>
              <a:t>Summary</a:t>
            </a:r>
          </a:p>
        </p:txBody>
      </p:sp>
      <p:sp>
        <p:nvSpPr>
          <p:cNvPr name="Freeform 22" id="22"/>
          <p:cNvSpPr/>
          <p:nvPr/>
        </p:nvSpPr>
        <p:spPr>
          <a:xfrm flipH="true" flipV="false" rot="0">
            <a:off x="15817478" y="526440"/>
            <a:ext cx="2739648" cy="1927716"/>
          </a:xfrm>
          <a:custGeom>
            <a:avLst/>
            <a:gdLst/>
            <a:ahLst/>
            <a:cxnLst/>
            <a:rect r="r" b="b" t="t" l="l"/>
            <a:pathLst>
              <a:path h="1927716" w="2739648">
                <a:moveTo>
                  <a:pt x="2739647" y="0"/>
                </a:moveTo>
                <a:lnTo>
                  <a:pt x="0" y="0"/>
                </a:lnTo>
                <a:lnTo>
                  <a:pt x="0" y="1927715"/>
                </a:lnTo>
                <a:lnTo>
                  <a:pt x="2739647" y="1927715"/>
                </a:lnTo>
                <a:lnTo>
                  <a:pt x="273964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1410151" y="2454155"/>
            <a:ext cx="1110469" cy="1110469"/>
          </a:xfrm>
          <a:custGeom>
            <a:avLst/>
            <a:gdLst/>
            <a:ahLst/>
            <a:cxnLst/>
            <a:rect r="r" b="b" t="t" l="l"/>
            <a:pathLst>
              <a:path h="1110469" w="1110469">
                <a:moveTo>
                  <a:pt x="0" y="0"/>
                </a:moveTo>
                <a:lnTo>
                  <a:pt x="1110469" y="0"/>
                </a:lnTo>
                <a:lnTo>
                  <a:pt x="1110469" y="1110469"/>
                </a:lnTo>
                <a:lnTo>
                  <a:pt x="0" y="11104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12893844" y="2116289"/>
            <a:ext cx="675733" cy="675733"/>
          </a:xfrm>
          <a:custGeom>
            <a:avLst/>
            <a:gdLst/>
            <a:ahLst/>
            <a:cxnLst/>
            <a:rect r="r" b="b" t="t" l="l"/>
            <a:pathLst>
              <a:path h="675733" w="675733">
                <a:moveTo>
                  <a:pt x="0" y="0"/>
                </a:moveTo>
                <a:lnTo>
                  <a:pt x="675734" y="0"/>
                </a:lnTo>
                <a:lnTo>
                  <a:pt x="675734" y="675733"/>
                </a:lnTo>
                <a:lnTo>
                  <a:pt x="0" y="6757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8FBFE"/>
        </a:solidFill>
      </p:bgPr>
    </p:bg>
    <p:spTree>
      <p:nvGrpSpPr>
        <p:cNvPr id="1" name=""/>
        <p:cNvGrpSpPr/>
        <p:nvPr/>
      </p:nvGrpSpPr>
      <p:grpSpPr>
        <a:xfrm>
          <a:off x="0" y="0"/>
          <a:ext cx="0" cy="0"/>
          <a:chOff x="0" y="0"/>
          <a:chExt cx="0" cy="0"/>
        </a:xfrm>
      </p:grpSpPr>
      <p:sp>
        <p:nvSpPr>
          <p:cNvPr name="Freeform 2" id="2"/>
          <p:cNvSpPr/>
          <p:nvPr/>
        </p:nvSpPr>
        <p:spPr>
          <a:xfrm flipH="true" flipV="false" rot="486704">
            <a:off x="-672048" y="-472556"/>
            <a:ext cx="4998350" cy="2762725"/>
          </a:xfrm>
          <a:custGeom>
            <a:avLst/>
            <a:gdLst/>
            <a:ahLst/>
            <a:cxnLst/>
            <a:rect r="r" b="b" t="t" l="l"/>
            <a:pathLst>
              <a:path h="2762725" w="4998350">
                <a:moveTo>
                  <a:pt x="4998350" y="0"/>
                </a:moveTo>
                <a:lnTo>
                  <a:pt x="0" y="0"/>
                </a:lnTo>
                <a:lnTo>
                  <a:pt x="0" y="2762724"/>
                </a:lnTo>
                <a:lnTo>
                  <a:pt x="4998350" y="2762724"/>
                </a:lnTo>
                <a:lnTo>
                  <a:pt x="499835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021590" y="8468139"/>
            <a:ext cx="19940536" cy="2809287"/>
          </a:xfrm>
          <a:custGeom>
            <a:avLst/>
            <a:gdLst/>
            <a:ahLst/>
            <a:cxnLst/>
            <a:rect r="r" b="b" t="t" l="l"/>
            <a:pathLst>
              <a:path h="2809287" w="19940536">
                <a:moveTo>
                  <a:pt x="0" y="2809287"/>
                </a:moveTo>
                <a:lnTo>
                  <a:pt x="19940536" y="2809287"/>
                </a:lnTo>
                <a:lnTo>
                  <a:pt x="19940536" y="0"/>
                </a:lnTo>
                <a:lnTo>
                  <a:pt x="0" y="0"/>
                </a:lnTo>
                <a:lnTo>
                  <a:pt x="0" y="2809287"/>
                </a:lnTo>
                <a:close/>
              </a:path>
            </a:pathLst>
          </a:custGeom>
          <a:blipFill>
            <a:blip r:embed="rId4">
              <a:alphaModFix amt="41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786673" y="3275644"/>
            <a:ext cx="8586307" cy="8586307"/>
          </a:xfrm>
          <a:custGeom>
            <a:avLst/>
            <a:gdLst/>
            <a:ahLst/>
            <a:cxnLst/>
            <a:rect r="r" b="b" t="t" l="l"/>
            <a:pathLst>
              <a:path h="8586307" w="8586307">
                <a:moveTo>
                  <a:pt x="0" y="0"/>
                </a:moveTo>
                <a:lnTo>
                  <a:pt x="8586307" y="0"/>
                </a:lnTo>
                <a:lnTo>
                  <a:pt x="8586307" y="8586307"/>
                </a:lnTo>
                <a:lnTo>
                  <a:pt x="0" y="85863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6215375" y="572072"/>
            <a:ext cx="5407143" cy="5407143"/>
          </a:xfrm>
          <a:custGeom>
            <a:avLst/>
            <a:gdLst/>
            <a:ahLst/>
            <a:cxnLst/>
            <a:rect r="r" b="b" t="t" l="l"/>
            <a:pathLst>
              <a:path h="5407143" w="5407143">
                <a:moveTo>
                  <a:pt x="5407143" y="0"/>
                </a:moveTo>
                <a:lnTo>
                  <a:pt x="0" y="0"/>
                </a:lnTo>
                <a:lnTo>
                  <a:pt x="0" y="5407143"/>
                </a:lnTo>
                <a:lnTo>
                  <a:pt x="5407143" y="5407143"/>
                </a:lnTo>
                <a:lnTo>
                  <a:pt x="5407143"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5741320" y="8908925"/>
            <a:ext cx="2739648" cy="1927716"/>
          </a:xfrm>
          <a:custGeom>
            <a:avLst/>
            <a:gdLst/>
            <a:ahLst/>
            <a:cxnLst/>
            <a:rect r="r" b="b" t="t" l="l"/>
            <a:pathLst>
              <a:path h="1927716" w="2739648">
                <a:moveTo>
                  <a:pt x="2739648" y="0"/>
                </a:moveTo>
                <a:lnTo>
                  <a:pt x="0" y="0"/>
                </a:lnTo>
                <a:lnTo>
                  <a:pt x="0" y="1927715"/>
                </a:lnTo>
                <a:lnTo>
                  <a:pt x="2739648" y="1927715"/>
                </a:lnTo>
                <a:lnTo>
                  <a:pt x="273964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true" rot="-5400000">
            <a:off x="6698494" y="-293891"/>
            <a:ext cx="309305" cy="2617194"/>
          </a:xfrm>
          <a:custGeom>
            <a:avLst/>
            <a:gdLst/>
            <a:ahLst/>
            <a:cxnLst/>
            <a:rect r="r" b="b" t="t" l="l"/>
            <a:pathLst>
              <a:path h="2617194" w="309305">
                <a:moveTo>
                  <a:pt x="0" y="2617194"/>
                </a:moveTo>
                <a:lnTo>
                  <a:pt x="309304" y="2617194"/>
                </a:lnTo>
                <a:lnTo>
                  <a:pt x="309304" y="0"/>
                </a:lnTo>
                <a:lnTo>
                  <a:pt x="0" y="0"/>
                </a:lnTo>
                <a:lnTo>
                  <a:pt x="0" y="2617194"/>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8461676" y="8050000"/>
            <a:ext cx="836279" cy="836279"/>
          </a:xfrm>
          <a:custGeom>
            <a:avLst/>
            <a:gdLst/>
            <a:ahLst/>
            <a:cxnLst/>
            <a:rect r="r" b="b" t="t" l="l"/>
            <a:pathLst>
              <a:path h="836279" w="836279">
                <a:moveTo>
                  <a:pt x="0" y="0"/>
                </a:moveTo>
                <a:lnTo>
                  <a:pt x="836279" y="0"/>
                </a:lnTo>
                <a:lnTo>
                  <a:pt x="836279" y="836279"/>
                </a:lnTo>
                <a:lnTo>
                  <a:pt x="0" y="8362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0389055" y="6405718"/>
            <a:ext cx="508885" cy="508885"/>
          </a:xfrm>
          <a:custGeom>
            <a:avLst/>
            <a:gdLst/>
            <a:ahLst/>
            <a:cxnLst/>
            <a:rect r="r" b="b" t="t" l="l"/>
            <a:pathLst>
              <a:path h="508885" w="508885">
                <a:moveTo>
                  <a:pt x="0" y="0"/>
                </a:moveTo>
                <a:lnTo>
                  <a:pt x="508886" y="0"/>
                </a:lnTo>
                <a:lnTo>
                  <a:pt x="508886" y="508886"/>
                </a:lnTo>
                <a:lnTo>
                  <a:pt x="0" y="50888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841959" y="4084367"/>
            <a:ext cx="8526508" cy="6604168"/>
          </a:xfrm>
          <a:custGeom>
            <a:avLst/>
            <a:gdLst/>
            <a:ahLst/>
            <a:cxnLst/>
            <a:rect r="r" b="b" t="t" l="l"/>
            <a:pathLst>
              <a:path h="6604168" w="8526508">
                <a:moveTo>
                  <a:pt x="0" y="0"/>
                </a:moveTo>
                <a:lnTo>
                  <a:pt x="8526507" y="0"/>
                </a:lnTo>
                <a:lnTo>
                  <a:pt x="8526507" y="6604168"/>
                </a:lnTo>
                <a:lnTo>
                  <a:pt x="0" y="660416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1" id="11"/>
          <p:cNvSpPr txBox="true"/>
          <p:nvPr/>
        </p:nvSpPr>
        <p:spPr>
          <a:xfrm rot="0">
            <a:off x="4439208" y="1350334"/>
            <a:ext cx="12820092" cy="1412008"/>
          </a:xfrm>
          <a:prstGeom prst="rect">
            <a:avLst/>
          </a:prstGeom>
        </p:spPr>
        <p:txBody>
          <a:bodyPr anchor="t" rtlCol="false" tIns="0" lIns="0" bIns="0" rIns="0">
            <a:spAutoFit/>
          </a:bodyPr>
          <a:lstStyle/>
          <a:p>
            <a:pPr algn="r">
              <a:lnSpc>
                <a:spcPts val="9670"/>
              </a:lnSpc>
            </a:pPr>
            <a:r>
              <a:rPr lang="en-US" sz="10511" b="true">
                <a:solidFill>
                  <a:srgbClr val="022D80"/>
                </a:solidFill>
                <a:latin typeface="Poppins Bold"/>
                <a:ea typeface="Poppins Bold"/>
                <a:cs typeface="Poppins Bold"/>
                <a:sym typeface="Poppins Bold"/>
              </a:rPr>
              <a:t>Sources</a:t>
            </a:r>
          </a:p>
        </p:txBody>
      </p:sp>
      <p:sp>
        <p:nvSpPr>
          <p:cNvPr name="TextBox 12" id="12"/>
          <p:cNvSpPr txBox="true"/>
          <p:nvPr/>
        </p:nvSpPr>
        <p:spPr>
          <a:xfrm rot="0">
            <a:off x="8461676" y="3829141"/>
            <a:ext cx="8797624" cy="702344"/>
          </a:xfrm>
          <a:prstGeom prst="rect">
            <a:avLst/>
          </a:prstGeom>
        </p:spPr>
        <p:txBody>
          <a:bodyPr anchor="t" rtlCol="false" tIns="0" lIns="0" bIns="0" rIns="0">
            <a:spAutoFit/>
          </a:bodyPr>
          <a:lstStyle/>
          <a:p>
            <a:pPr algn="r">
              <a:lnSpc>
                <a:spcPts val="5261"/>
              </a:lnSpc>
            </a:pPr>
            <a:r>
              <a:rPr lang="en-US" sz="4243" b="true">
                <a:solidFill>
                  <a:srgbClr val="000000"/>
                </a:solidFill>
                <a:latin typeface="Poppins Bold"/>
                <a:ea typeface="Poppins Bold"/>
                <a:cs typeface="Poppins Bold"/>
                <a:sym typeface="Poppins Bold"/>
              </a:rPr>
              <a:t>The Future</a:t>
            </a:r>
            <a:r>
              <a:rPr lang="en-US" b="true" sz="4243">
                <a:solidFill>
                  <a:srgbClr val="000000"/>
                </a:solidFill>
                <a:latin typeface="Poppins Bold"/>
                <a:ea typeface="Poppins Bold"/>
                <a:cs typeface="Poppins Bold"/>
                <a:sym typeface="Poppins Bold"/>
              </a:rPr>
              <a:t> of Medical Services</a:t>
            </a:r>
          </a:p>
        </p:txBody>
      </p:sp>
      <p:sp>
        <p:nvSpPr>
          <p:cNvPr name="TextBox 13" id="13"/>
          <p:cNvSpPr txBox="true"/>
          <p:nvPr/>
        </p:nvSpPr>
        <p:spPr>
          <a:xfrm rot="0">
            <a:off x="9297955" y="4795704"/>
            <a:ext cx="8573233" cy="3810902"/>
          </a:xfrm>
          <a:prstGeom prst="rect">
            <a:avLst/>
          </a:prstGeom>
        </p:spPr>
        <p:txBody>
          <a:bodyPr anchor="t" rtlCol="false" tIns="0" lIns="0" bIns="0" rIns="0">
            <a:spAutoFit/>
          </a:bodyPr>
          <a:lstStyle/>
          <a:p>
            <a:pPr algn="r">
              <a:lnSpc>
                <a:spcPts val="2796"/>
              </a:lnSpc>
            </a:pPr>
            <a:r>
              <a:rPr lang="en-US" sz="1997">
                <a:solidFill>
                  <a:srgbClr val="000000"/>
                </a:solidFill>
                <a:latin typeface="Canva Sans"/>
                <a:ea typeface="Canva Sans"/>
                <a:cs typeface="Canva Sans"/>
                <a:sym typeface="Canva Sans"/>
              </a:rPr>
              <a:t>Dataset: US CDC PLACES County Health Dat</a:t>
            </a:r>
            <a:r>
              <a:rPr lang="en-US" sz="1997">
                <a:solidFill>
                  <a:srgbClr val="000000"/>
                </a:solidFill>
                <a:latin typeface="Canva Sans"/>
                <a:ea typeface="Canva Sans"/>
                <a:cs typeface="Canva Sans"/>
                <a:sym typeface="Canva Sans"/>
              </a:rPr>
              <a:t>a 2024, accessed via Kaggle (kaggle.com/datasets/aliafzal9323/us-cdc-places-county-health-data-2024).</a:t>
            </a:r>
          </a:p>
          <a:p>
            <a:pPr algn="r">
              <a:lnSpc>
                <a:spcPts val="2796"/>
              </a:lnSpc>
            </a:pPr>
          </a:p>
          <a:p>
            <a:pPr algn="r">
              <a:lnSpc>
                <a:spcPts val="2796"/>
              </a:lnSpc>
            </a:pPr>
            <a:r>
              <a:rPr lang="en-US" sz="1997">
                <a:solidFill>
                  <a:srgbClr val="000000"/>
                </a:solidFill>
                <a:latin typeface="Canva Sans"/>
                <a:ea typeface="Canva Sans"/>
                <a:cs typeface="Canva Sans"/>
                <a:sym typeface="Canva Sans"/>
              </a:rPr>
              <a:t>References: Greenlund et al. (2022), PLACES: Local data for better health, Preventing Chronic Disease. Bowser et al. (2024), American clusters: using machine learning to understand health and health care disparities, Health Affairs Scholar. Khan et al. (2022), county-level risk groups and COVID-19 outcomes, BMC Public Health</a:t>
            </a:r>
          </a:p>
          <a:p>
            <a:pPr algn="r">
              <a:lnSpc>
                <a:spcPts val="2796"/>
              </a:lnSpc>
            </a:pPr>
          </a:p>
          <a:p>
            <a:pPr algn="r">
              <a:lnSpc>
                <a:spcPts val="2796"/>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DAHN6tm1gCU</dc:identifier>
  <dcterms:modified xsi:type="dcterms:W3CDTF">2011-08-01T06:04:30Z</dcterms:modified>
  <cp:revision>1</cp:revision>
  <dc:title>AI4ALL Proposal</dc:title>
</cp:coreProperties>
</file>